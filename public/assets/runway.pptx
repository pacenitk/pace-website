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4"/>
  </p:notesMasterIdLst>
  <p:handoutMasterIdLst>
    <p:handoutMasterId r:id="rId5"/>
  </p:handoutMasterIdLst>
  <p:sldIdLst>
    <p:sldId id="258" r:id="rId3"/>
  </p:sldIdLst>
  <p:sldSz cx="36576000" cy="29260800"/>
  <p:notesSz cx="6994525" cy="9280525"/>
  <p:defaultTextStyle>
    <a:defPPr>
      <a:defRPr lang="en-US"/>
    </a:defPPr>
    <a:lvl1pPr algn="l" rtl="0" eaLnBrk="0" fontAlgn="base" hangingPunct="0">
      <a:spcBef>
        <a:spcPct val="0"/>
      </a:spcBef>
      <a:spcAft>
        <a:spcPct val="0"/>
      </a:spcAft>
      <a:defRPr sz="99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99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99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99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9900" kern="1200">
        <a:solidFill>
          <a:schemeClr val="tx1"/>
        </a:solidFill>
        <a:latin typeface="Times New Roman" panose="02020603050405020304" pitchFamily="18" charset="0"/>
        <a:ea typeface="+mn-ea"/>
        <a:cs typeface="+mn-cs"/>
      </a:defRPr>
    </a:lvl5pPr>
    <a:lvl6pPr marL="2286000" algn="l" defTabSz="914400" rtl="0" eaLnBrk="1" latinLnBrk="0" hangingPunct="1">
      <a:defRPr sz="9900" kern="1200">
        <a:solidFill>
          <a:schemeClr val="tx1"/>
        </a:solidFill>
        <a:latin typeface="Times New Roman" panose="02020603050405020304" pitchFamily="18" charset="0"/>
        <a:ea typeface="+mn-ea"/>
        <a:cs typeface="+mn-cs"/>
      </a:defRPr>
    </a:lvl6pPr>
    <a:lvl7pPr marL="2743200" algn="l" defTabSz="914400" rtl="0" eaLnBrk="1" latinLnBrk="0" hangingPunct="1">
      <a:defRPr sz="9900" kern="1200">
        <a:solidFill>
          <a:schemeClr val="tx1"/>
        </a:solidFill>
        <a:latin typeface="Times New Roman" panose="02020603050405020304" pitchFamily="18" charset="0"/>
        <a:ea typeface="+mn-ea"/>
        <a:cs typeface="+mn-cs"/>
      </a:defRPr>
    </a:lvl7pPr>
    <a:lvl8pPr marL="3200400" algn="l" defTabSz="914400" rtl="0" eaLnBrk="1" latinLnBrk="0" hangingPunct="1">
      <a:defRPr sz="9900" kern="1200">
        <a:solidFill>
          <a:schemeClr val="tx1"/>
        </a:solidFill>
        <a:latin typeface="Times New Roman" panose="02020603050405020304" pitchFamily="18" charset="0"/>
        <a:ea typeface="+mn-ea"/>
        <a:cs typeface="+mn-cs"/>
      </a:defRPr>
    </a:lvl8pPr>
    <a:lvl9pPr marL="3657600" algn="l" defTabSz="914400" rtl="0" eaLnBrk="1" latinLnBrk="0" hangingPunct="1">
      <a:defRPr sz="99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9394" userDrawn="1">
          <p15:clr>
            <a:srgbClr val="A4A3A4"/>
          </p15:clr>
        </p15:guide>
        <p15:guide id="2" pos="115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40C049"/>
    <a:srgbClr val="FF0000"/>
    <a:srgbClr val="00CCFF"/>
    <a:srgbClr val="FFCC99"/>
    <a:srgbClr val="CCECFF"/>
    <a:srgbClr val="FF66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8486" autoAdjust="0"/>
    <p:restoredTop sz="91854" autoAdjust="0"/>
  </p:normalViewPr>
  <p:slideViewPr>
    <p:cSldViewPr snapToGrid="0" showGuides="1">
      <p:cViewPr>
        <p:scale>
          <a:sx n="25" d="100"/>
          <a:sy n="25" d="100"/>
        </p:scale>
        <p:origin x="1349" y="14"/>
      </p:cViewPr>
      <p:guideLst>
        <p:guide orient="horz" pos="9394"/>
        <p:guide pos="1152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gridSpacing cx="38405" cy="38405"/>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handoutMaster" Target="handoutMasters/handoutMaster1.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48000" cy="457200"/>
          </a:xfrm>
          <a:prstGeom prst="rect">
            <a:avLst/>
          </a:prstGeom>
          <a:noFill/>
          <a:ln>
            <a:noFill/>
          </a:ln>
          <a:effectLst/>
        </p:spPr>
        <p:txBody>
          <a:bodyPr vert="horz" wrap="square" lIns="92075" tIns="46038" rIns="92075" bIns="46038" numCol="1" anchor="t" anchorCtr="0" compatLnSpc="1"/>
          <a:lstStyle>
            <a:lvl1pPr>
              <a:defRPr sz="1200">
                <a:ea typeface="SimSun" panose="02010600030101010101" pitchFamily="2" charset="-122"/>
              </a:defRPr>
            </a:lvl1pPr>
          </a:lstStyle>
          <a:p>
            <a:pPr>
              <a:defRPr/>
            </a:pPr>
            <a:endParaRPr lang="en-US" altLang="zh-CN"/>
          </a:p>
        </p:txBody>
      </p:sp>
      <p:sp>
        <p:nvSpPr>
          <p:cNvPr id="3075" name="Rectangle 3"/>
          <p:cNvSpPr>
            <a:spLocks noGrp="1" noChangeArrowheads="1"/>
          </p:cNvSpPr>
          <p:nvPr>
            <p:ph type="dt" sz="quarter" idx="1"/>
          </p:nvPr>
        </p:nvSpPr>
        <p:spPr bwMode="auto">
          <a:xfrm>
            <a:off x="3965575" y="0"/>
            <a:ext cx="3048000" cy="457200"/>
          </a:xfrm>
          <a:prstGeom prst="rect">
            <a:avLst/>
          </a:prstGeom>
          <a:noFill/>
          <a:ln>
            <a:noFill/>
          </a:ln>
          <a:effectLst/>
        </p:spPr>
        <p:txBody>
          <a:bodyPr vert="horz" wrap="square" lIns="92075" tIns="46038" rIns="92075" bIns="46038" numCol="1" anchor="t" anchorCtr="0" compatLnSpc="1"/>
          <a:lstStyle>
            <a:lvl1pPr algn="r">
              <a:defRPr sz="1200">
                <a:ea typeface="SimSun" panose="02010600030101010101" pitchFamily="2" charset="-122"/>
              </a:defRPr>
            </a:lvl1pPr>
          </a:lstStyle>
          <a:p>
            <a:pPr>
              <a:defRPr/>
            </a:pPr>
            <a:endParaRPr lang="en-US" altLang="zh-CN"/>
          </a:p>
        </p:txBody>
      </p:sp>
      <p:sp>
        <p:nvSpPr>
          <p:cNvPr id="3076" name="Rectangle 4"/>
          <p:cNvSpPr>
            <a:spLocks noGrp="1" noChangeArrowheads="1"/>
          </p:cNvSpPr>
          <p:nvPr>
            <p:ph type="ftr" sz="quarter" idx="2"/>
          </p:nvPr>
        </p:nvSpPr>
        <p:spPr bwMode="auto">
          <a:xfrm>
            <a:off x="0" y="8837613"/>
            <a:ext cx="3048000" cy="457200"/>
          </a:xfrm>
          <a:prstGeom prst="rect">
            <a:avLst/>
          </a:prstGeom>
          <a:noFill/>
          <a:ln>
            <a:noFill/>
          </a:ln>
          <a:effectLst/>
        </p:spPr>
        <p:txBody>
          <a:bodyPr vert="horz" wrap="square" lIns="92075" tIns="46038" rIns="92075" bIns="46038" numCol="1" anchor="b" anchorCtr="0" compatLnSpc="1"/>
          <a:lstStyle>
            <a:lvl1pPr>
              <a:defRPr sz="1200">
                <a:ea typeface="SimSun" panose="02010600030101010101" pitchFamily="2" charset="-122"/>
              </a:defRPr>
            </a:lvl1pPr>
          </a:lstStyle>
          <a:p>
            <a:pPr>
              <a:defRPr/>
            </a:pPr>
            <a:endParaRPr lang="en-US" altLang="zh-CN"/>
          </a:p>
        </p:txBody>
      </p:sp>
      <p:sp>
        <p:nvSpPr>
          <p:cNvPr id="3077" name="Rectangle 5"/>
          <p:cNvSpPr>
            <a:spLocks noGrp="1" noChangeArrowheads="1"/>
          </p:cNvSpPr>
          <p:nvPr>
            <p:ph type="sldNum" sz="quarter" idx="3"/>
          </p:nvPr>
        </p:nvSpPr>
        <p:spPr bwMode="auto">
          <a:xfrm>
            <a:off x="3965575" y="8837613"/>
            <a:ext cx="3048000" cy="457200"/>
          </a:xfrm>
          <a:prstGeom prst="rect">
            <a:avLst/>
          </a:prstGeom>
          <a:noFill/>
          <a:ln>
            <a:noFill/>
          </a:ln>
          <a:effectLst/>
        </p:spPr>
        <p:txBody>
          <a:bodyPr vert="horz" wrap="square" lIns="92075" tIns="46038" rIns="92075" bIns="46038" numCol="1" anchor="b" anchorCtr="0" compatLnSpc="1"/>
          <a:lstStyle>
            <a:lvl1pPr algn="r">
              <a:defRPr sz="1200">
                <a:ea typeface="SimSun" panose="02010600030101010101" pitchFamily="2" charset="-122"/>
              </a:defRPr>
            </a:lvl1pPr>
          </a:lstStyle>
          <a:p>
            <a:pPr>
              <a:defRPr/>
            </a:pPr>
            <a:fld id="{7FB68BFB-E5F6-4CA4-AA21-25CCC6E52CC4}" type="slidenum">
              <a:rPr lang="zh-CN" altLang="en-US"/>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043238" cy="460375"/>
          </a:xfrm>
          <a:prstGeom prst="rect">
            <a:avLst/>
          </a:prstGeom>
          <a:noFill/>
          <a:ln>
            <a:noFill/>
          </a:ln>
          <a:effectLst/>
        </p:spPr>
        <p:txBody>
          <a:bodyPr vert="horz" wrap="square" lIns="92075" tIns="46038" rIns="92075" bIns="46038" numCol="1" anchor="t" anchorCtr="0" compatLnSpc="1"/>
          <a:lstStyle>
            <a:lvl1pPr defTabSz="917575">
              <a:defRPr sz="1200">
                <a:ea typeface="SimSun" panose="02010600030101010101" pitchFamily="2" charset="-122"/>
              </a:defRPr>
            </a:lvl1pPr>
          </a:lstStyle>
          <a:p>
            <a:pPr>
              <a:defRPr/>
            </a:pPr>
            <a:endParaRPr lang="en-US" altLang="zh-CN"/>
          </a:p>
        </p:txBody>
      </p:sp>
      <p:sp>
        <p:nvSpPr>
          <p:cNvPr id="2051" name="Rectangle 3"/>
          <p:cNvSpPr>
            <a:spLocks noGrp="1" noChangeArrowheads="1"/>
          </p:cNvSpPr>
          <p:nvPr>
            <p:ph type="dt" idx="1"/>
          </p:nvPr>
        </p:nvSpPr>
        <p:spPr bwMode="auto">
          <a:xfrm>
            <a:off x="3957638" y="0"/>
            <a:ext cx="3041650" cy="460375"/>
          </a:xfrm>
          <a:prstGeom prst="rect">
            <a:avLst/>
          </a:prstGeom>
          <a:noFill/>
          <a:ln>
            <a:noFill/>
          </a:ln>
          <a:effectLst/>
        </p:spPr>
        <p:txBody>
          <a:bodyPr vert="horz" wrap="square" lIns="92075" tIns="46038" rIns="92075" bIns="46038" numCol="1" anchor="t" anchorCtr="0" compatLnSpc="1"/>
          <a:lstStyle>
            <a:lvl1pPr algn="r" defTabSz="917575">
              <a:defRPr sz="1200">
                <a:ea typeface="SimSun" panose="02010600030101010101" pitchFamily="2" charset="-122"/>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1346200" y="692150"/>
            <a:ext cx="4305300" cy="3444875"/>
          </a:xfrm>
          <a:prstGeom prst="rect">
            <a:avLst/>
          </a:prstGeom>
          <a:noFill/>
          <a:ln w="127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53" name="Rectangle 5"/>
          <p:cNvSpPr>
            <a:spLocks noGrp="1" noChangeArrowheads="1"/>
          </p:cNvSpPr>
          <p:nvPr>
            <p:ph type="body" sz="quarter" idx="3"/>
          </p:nvPr>
        </p:nvSpPr>
        <p:spPr bwMode="auto">
          <a:xfrm>
            <a:off x="912813" y="4445000"/>
            <a:ext cx="5173662" cy="4140200"/>
          </a:xfrm>
          <a:prstGeom prst="rect">
            <a:avLst/>
          </a:prstGeom>
          <a:noFill/>
          <a:ln>
            <a:noFill/>
          </a:ln>
          <a:effectLst/>
        </p:spPr>
        <p:txBody>
          <a:bodyPr vert="horz" wrap="square" lIns="92075" tIns="46038" rIns="92075" bIns="46038"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2054" name="Rectangle 6"/>
          <p:cNvSpPr>
            <a:spLocks noGrp="1" noChangeArrowheads="1"/>
          </p:cNvSpPr>
          <p:nvPr>
            <p:ph type="ftr" sz="quarter" idx="4"/>
          </p:nvPr>
        </p:nvSpPr>
        <p:spPr bwMode="auto">
          <a:xfrm>
            <a:off x="0" y="8815388"/>
            <a:ext cx="3043238" cy="460375"/>
          </a:xfrm>
          <a:prstGeom prst="rect">
            <a:avLst/>
          </a:prstGeom>
          <a:noFill/>
          <a:ln>
            <a:noFill/>
          </a:ln>
          <a:effectLst/>
        </p:spPr>
        <p:txBody>
          <a:bodyPr vert="horz" wrap="square" lIns="92075" tIns="46038" rIns="92075" bIns="46038" numCol="1" anchor="b" anchorCtr="0" compatLnSpc="1"/>
          <a:lstStyle>
            <a:lvl1pPr defTabSz="917575">
              <a:defRPr sz="1200">
                <a:ea typeface="SimSun" panose="02010600030101010101" pitchFamily="2" charset="-122"/>
              </a:defRPr>
            </a:lvl1pPr>
          </a:lstStyle>
          <a:p>
            <a:pPr>
              <a:defRPr/>
            </a:pPr>
            <a:endParaRPr lang="en-US" altLang="zh-CN"/>
          </a:p>
        </p:txBody>
      </p:sp>
      <p:sp>
        <p:nvSpPr>
          <p:cNvPr id="2055" name="Rectangle 7"/>
          <p:cNvSpPr>
            <a:spLocks noGrp="1" noChangeArrowheads="1"/>
          </p:cNvSpPr>
          <p:nvPr>
            <p:ph type="sldNum" sz="quarter" idx="5"/>
          </p:nvPr>
        </p:nvSpPr>
        <p:spPr bwMode="auto">
          <a:xfrm>
            <a:off x="3957638" y="8815388"/>
            <a:ext cx="3041650" cy="460375"/>
          </a:xfrm>
          <a:prstGeom prst="rect">
            <a:avLst/>
          </a:prstGeom>
          <a:noFill/>
          <a:ln>
            <a:noFill/>
          </a:ln>
          <a:effectLst/>
        </p:spPr>
        <p:txBody>
          <a:bodyPr vert="horz" wrap="square" lIns="92075" tIns="46038" rIns="92075" bIns="46038" numCol="1" anchor="b" anchorCtr="0" compatLnSpc="1"/>
          <a:lstStyle>
            <a:lvl1pPr algn="r" defTabSz="917575">
              <a:defRPr sz="1200">
                <a:ea typeface="SimSun" panose="02010600030101010101" pitchFamily="2" charset="-122"/>
              </a:defRPr>
            </a:lvl1pPr>
          </a:lstStyle>
          <a:p>
            <a:pPr>
              <a:defRPr/>
            </a:pPr>
            <a:fld id="{0D353551-C13F-48CF-8E17-61A2A6BC2A64}"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17575">
              <a:defRPr sz="9900">
                <a:solidFill>
                  <a:schemeClr val="tx1"/>
                </a:solidFill>
                <a:latin typeface="Times New Roman" panose="02020603050405020304" pitchFamily="18" charset="0"/>
              </a:defRPr>
            </a:lvl1pPr>
            <a:lvl2pPr marL="742950" indent="-285750" defTabSz="917575">
              <a:defRPr sz="9900">
                <a:solidFill>
                  <a:schemeClr val="tx1"/>
                </a:solidFill>
                <a:latin typeface="Times New Roman" panose="02020603050405020304" pitchFamily="18" charset="0"/>
              </a:defRPr>
            </a:lvl2pPr>
            <a:lvl3pPr marL="1143000" indent="-228600" defTabSz="917575">
              <a:defRPr sz="9900">
                <a:solidFill>
                  <a:schemeClr val="tx1"/>
                </a:solidFill>
                <a:latin typeface="Times New Roman" panose="02020603050405020304" pitchFamily="18" charset="0"/>
              </a:defRPr>
            </a:lvl3pPr>
            <a:lvl4pPr marL="1600200" indent="-228600" defTabSz="917575">
              <a:defRPr sz="9900">
                <a:solidFill>
                  <a:schemeClr val="tx1"/>
                </a:solidFill>
                <a:latin typeface="Times New Roman" panose="02020603050405020304" pitchFamily="18" charset="0"/>
              </a:defRPr>
            </a:lvl4pPr>
            <a:lvl5pPr marL="2057400" indent="-228600" defTabSz="917575">
              <a:defRPr sz="9900">
                <a:solidFill>
                  <a:schemeClr val="tx1"/>
                </a:solidFill>
                <a:latin typeface="Times New Roman" panose="02020603050405020304" pitchFamily="18" charset="0"/>
              </a:defRPr>
            </a:lvl5pPr>
            <a:lvl6pPr marL="2514600" indent="-228600" defTabSz="917575"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defTabSz="917575"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defTabSz="917575"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defTabSz="917575" eaLnBrk="0" fontAlgn="base" hangingPunct="0">
              <a:spcBef>
                <a:spcPct val="0"/>
              </a:spcBef>
              <a:spcAft>
                <a:spcPct val="0"/>
              </a:spcAft>
              <a:defRPr sz="9900">
                <a:solidFill>
                  <a:schemeClr val="tx1"/>
                </a:solidFill>
                <a:latin typeface="Times New Roman" panose="02020603050405020304" pitchFamily="18" charset="0"/>
              </a:defRPr>
            </a:lvl9pPr>
          </a:lstStyle>
          <a:p>
            <a:fld id="{17D0F44B-CC71-4E6E-A7F0-9D009E11B7C4}" type="slidenum">
              <a:rPr lang="zh-CN" altLang="en-US" sz="1200" smtClean="0"/>
            </a:fld>
            <a:endParaRPr lang="zh-CN" altLang="en-US" sz="1200"/>
          </a:p>
        </p:txBody>
      </p:sp>
      <p:sp>
        <p:nvSpPr>
          <p:cNvPr id="5123" name="Rectangle 2"/>
          <p:cNvSpPr>
            <a:spLocks noGrp="1" noRot="1" noChangeAspect="1" noChangeArrowheads="1" noTextEdit="1"/>
          </p:cNvSpPr>
          <p:nvPr>
            <p:ph type="sldImg"/>
          </p:nvPr>
        </p:nvSpPr>
        <p:spPr>
          <a:ln cap="flat"/>
        </p:spPr>
      </p:sp>
      <p:sp>
        <p:nvSpPr>
          <p:cNvPr id="5124"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SimSun"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0" y="4789488"/>
            <a:ext cx="27432000" cy="10186987"/>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4572000" y="15368588"/>
            <a:ext cx="27432000" cy="706437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71E4D12F-F900-44FB-BECC-A5E82D226DD8}"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498002EF-35D7-4FE1-8192-A1FDF6E6070E}"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95550" y="7294563"/>
            <a:ext cx="31546800" cy="12171362"/>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2495550" y="19581813"/>
            <a:ext cx="31546800" cy="6400800"/>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2DFF01DF-2DC6-4F51-9280-F83174BB911B}"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2749550" y="8453438"/>
            <a:ext cx="15465425" cy="1755616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18367375" y="8453438"/>
            <a:ext cx="15465425" cy="1755616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9FE94C5E-3D37-4F7C-AB7C-332473EDE1BA}"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19363" y="1557338"/>
            <a:ext cx="31546800" cy="5656262"/>
          </a:xfrm>
        </p:spPr>
        <p:txBody>
          <a:bodyPr/>
          <a:lstStyle/>
          <a:p>
            <a:r>
              <a:rPr lang="en-US"/>
              <a:t>Click to edit Master title style</a:t>
            </a:r>
            <a:endParaRPr lang="en-IN"/>
          </a:p>
        </p:txBody>
      </p:sp>
      <p:sp>
        <p:nvSpPr>
          <p:cNvPr id="3" name="Text Placeholder 2"/>
          <p:cNvSpPr>
            <a:spLocks noGrp="1"/>
          </p:cNvSpPr>
          <p:nvPr>
            <p:ph type="body" idx="1"/>
          </p:nvPr>
        </p:nvSpPr>
        <p:spPr>
          <a:xfrm>
            <a:off x="2519363" y="7172325"/>
            <a:ext cx="15473362" cy="351631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2519363" y="10688638"/>
            <a:ext cx="15473362" cy="1572101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18516600" y="7172325"/>
            <a:ext cx="15549563" cy="351631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18516600" y="10688638"/>
            <a:ext cx="15549563" cy="1572101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8D18D837-28C1-4333-A6A5-AD8A5EDF11B1}"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BE96A4C8-CA4D-49F8-8EBB-80F75D267402}"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E17FC3C4-C704-40B0-B758-5DE09C3ED2DD}"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3" y="1951038"/>
            <a:ext cx="11796712" cy="6827837"/>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15549563" y="4213225"/>
            <a:ext cx="18516600" cy="207946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2519363" y="8778875"/>
            <a:ext cx="11796712" cy="1626235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F658F528-F560-4724-9C74-4FF4C8B41CA3}"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3" y="1951038"/>
            <a:ext cx="11796712" cy="6827837"/>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15549563" y="4213225"/>
            <a:ext cx="18516600" cy="207946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2519363" y="8778875"/>
            <a:ext cx="11796712" cy="1626235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592D5BC0-309B-42EF-91D6-1D468098618C}"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26776D04-4D46-4381-8472-694DFE35FC68}"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6061988" y="2600325"/>
            <a:ext cx="7770812" cy="2340927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2749550" y="2600325"/>
            <a:ext cx="23160038" cy="2340927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8FB3CEB0-BE2C-4AD7-8467-37A30FF105E7}" type="slidenum">
              <a:rPr lang="zh-CN"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749550" y="2600325"/>
            <a:ext cx="3108325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8815" tIns="189410" rIns="378815" bIns="189410" numCol="1" anchor="ctr" anchorCtr="0" compatLnSpc="1"/>
          <a:lstStyle/>
          <a:p>
            <a:pPr lvl="0"/>
            <a:r>
              <a:rPr lang="en-US" altLang="zh-CN"/>
              <a:t>Click to edit Master title style</a:t>
            </a:r>
            <a:endParaRPr lang="en-US" altLang="zh-CN"/>
          </a:p>
        </p:txBody>
      </p:sp>
      <p:sp>
        <p:nvSpPr>
          <p:cNvPr id="1027" name="Rectangle 3"/>
          <p:cNvSpPr>
            <a:spLocks noGrp="1" noChangeArrowheads="1"/>
          </p:cNvSpPr>
          <p:nvPr>
            <p:ph type="body" idx="1"/>
          </p:nvPr>
        </p:nvSpPr>
        <p:spPr bwMode="auto">
          <a:xfrm>
            <a:off x="2749550" y="8453438"/>
            <a:ext cx="31083250" cy="17556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8815" tIns="189410" rIns="378815" bIns="189410" numCol="1" anchor="t" anchorCtr="0" compatLnSpc="1"/>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
        <p:nvSpPr>
          <p:cNvPr id="1028" name="Rectangle 4"/>
          <p:cNvSpPr>
            <a:spLocks noGrp="1" noChangeArrowheads="1"/>
          </p:cNvSpPr>
          <p:nvPr>
            <p:ph type="dt" sz="half" idx="2"/>
          </p:nvPr>
        </p:nvSpPr>
        <p:spPr bwMode="auto">
          <a:xfrm>
            <a:off x="2749550" y="26660475"/>
            <a:ext cx="7620000" cy="1949450"/>
          </a:xfrm>
          <a:prstGeom prst="rect">
            <a:avLst/>
          </a:prstGeom>
          <a:noFill/>
          <a:ln>
            <a:noFill/>
          </a:ln>
          <a:effectLst/>
        </p:spPr>
        <p:txBody>
          <a:bodyPr vert="horz" wrap="square" lIns="378815" tIns="189410" rIns="378815" bIns="189410" numCol="1" anchor="t" anchorCtr="0" compatLnSpc="1"/>
          <a:lstStyle>
            <a:lvl1pPr defTabSz="3762375">
              <a:defRPr sz="5800">
                <a:ea typeface="SimSun" panose="02010600030101010101" pitchFamily="2" charset="-122"/>
              </a:defRPr>
            </a:lvl1pPr>
          </a:lstStyle>
          <a:p>
            <a:pPr>
              <a:defRPr/>
            </a:pPr>
            <a:endParaRPr lang="en-US" altLang="zh-CN"/>
          </a:p>
        </p:txBody>
      </p:sp>
      <p:sp>
        <p:nvSpPr>
          <p:cNvPr id="1029" name="Rectangle 5"/>
          <p:cNvSpPr>
            <a:spLocks noGrp="1" noChangeArrowheads="1"/>
          </p:cNvSpPr>
          <p:nvPr>
            <p:ph type="ftr" sz="quarter" idx="3"/>
          </p:nvPr>
        </p:nvSpPr>
        <p:spPr bwMode="auto">
          <a:xfrm>
            <a:off x="12496800" y="26660475"/>
            <a:ext cx="11588750" cy="1949450"/>
          </a:xfrm>
          <a:prstGeom prst="rect">
            <a:avLst/>
          </a:prstGeom>
          <a:noFill/>
          <a:ln>
            <a:noFill/>
          </a:ln>
          <a:effectLst/>
        </p:spPr>
        <p:txBody>
          <a:bodyPr vert="horz" wrap="square" lIns="378815" tIns="189410" rIns="378815" bIns="189410" numCol="1" anchor="t" anchorCtr="0" compatLnSpc="1"/>
          <a:lstStyle>
            <a:lvl1pPr algn="ctr" defTabSz="3762375">
              <a:defRPr sz="5800">
                <a:ea typeface="SimSun" panose="02010600030101010101" pitchFamily="2" charset="-122"/>
              </a:defRPr>
            </a:lvl1pPr>
          </a:lstStyle>
          <a:p>
            <a:pPr>
              <a:defRPr/>
            </a:pPr>
            <a:endParaRPr lang="en-US" altLang="zh-CN"/>
          </a:p>
        </p:txBody>
      </p:sp>
      <p:sp>
        <p:nvSpPr>
          <p:cNvPr id="1030" name="Rectangle 6"/>
          <p:cNvSpPr>
            <a:spLocks noGrp="1" noChangeArrowheads="1"/>
          </p:cNvSpPr>
          <p:nvPr>
            <p:ph type="sldNum" sz="quarter" idx="4"/>
          </p:nvPr>
        </p:nvSpPr>
        <p:spPr bwMode="auto">
          <a:xfrm>
            <a:off x="26212800" y="26660475"/>
            <a:ext cx="7620000" cy="1949450"/>
          </a:xfrm>
          <a:prstGeom prst="rect">
            <a:avLst/>
          </a:prstGeom>
          <a:noFill/>
          <a:ln>
            <a:noFill/>
          </a:ln>
          <a:effectLst/>
        </p:spPr>
        <p:txBody>
          <a:bodyPr vert="horz" wrap="square" lIns="378815" tIns="189410" rIns="378815" bIns="189410" numCol="1" anchor="t" anchorCtr="0" compatLnSpc="1"/>
          <a:lstStyle>
            <a:lvl1pPr algn="r" defTabSz="3762375">
              <a:defRPr sz="5800">
                <a:ea typeface="SimSun" panose="02010600030101010101" pitchFamily="2" charset="-122"/>
              </a:defRPr>
            </a:lvl1pPr>
          </a:lstStyle>
          <a:p>
            <a:pPr>
              <a:defRPr/>
            </a:pPr>
            <a:fld id="{69F85A0D-3D1E-42C8-A714-902C3E86C328}"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762375" rtl="0" eaLnBrk="0" fontAlgn="base" hangingPunct="0">
        <a:spcBef>
          <a:spcPct val="0"/>
        </a:spcBef>
        <a:spcAft>
          <a:spcPct val="0"/>
        </a:spcAft>
        <a:defRPr sz="18500" kern="1200">
          <a:solidFill>
            <a:schemeClr val="tx2"/>
          </a:solidFill>
          <a:latin typeface="+mj-lt"/>
          <a:ea typeface="+mj-ea"/>
          <a:cs typeface="+mj-cs"/>
        </a:defRPr>
      </a:lvl1pPr>
      <a:lvl2pPr algn="ctr" defTabSz="3762375" rtl="0" eaLnBrk="0" fontAlgn="base" hangingPunct="0">
        <a:spcBef>
          <a:spcPct val="0"/>
        </a:spcBef>
        <a:spcAft>
          <a:spcPct val="0"/>
        </a:spcAft>
        <a:defRPr sz="18500">
          <a:solidFill>
            <a:schemeClr val="tx2"/>
          </a:solidFill>
          <a:latin typeface="Times New Roman" panose="02020603050405020304" pitchFamily="18" charset="0"/>
        </a:defRPr>
      </a:lvl2pPr>
      <a:lvl3pPr algn="ctr" defTabSz="3762375" rtl="0" eaLnBrk="0" fontAlgn="base" hangingPunct="0">
        <a:spcBef>
          <a:spcPct val="0"/>
        </a:spcBef>
        <a:spcAft>
          <a:spcPct val="0"/>
        </a:spcAft>
        <a:defRPr sz="18500">
          <a:solidFill>
            <a:schemeClr val="tx2"/>
          </a:solidFill>
          <a:latin typeface="Times New Roman" panose="02020603050405020304" pitchFamily="18" charset="0"/>
        </a:defRPr>
      </a:lvl3pPr>
      <a:lvl4pPr algn="ctr" defTabSz="3762375" rtl="0" eaLnBrk="0" fontAlgn="base" hangingPunct="0">
        <a:spcBef>
          <a:spcPct val="0"/>
        </a:spcBef>
        <a:spcAft>
          <a:spcPct val="0"/>
        </a:spcAft>
        <a:defRPr sz="18500">
          <a:solidFill>
            <a:schemeClr val="tx2"/>
          </a:solidFill>
          <a:latin typeface="Times New Roman" panose="02020603050405020304" pitchFamily="18" charset="0"/>
        </a:defRPr>
      </a:lvl4pPr>
      <a:lvl5pPr algn="ctr" defTabSz="3762375" rtl="0" eaLnBrk="0" fontAlgn="base" hangingPunct="0">
        <a:spcBef>
          <a:spcPct val="0"/>
        </a:spcBef>
        <a:spcAft>
          <a:spcPct val="0"/>
        </a:spcAft>
        <a:defRPr sz="18500">
          <a:solidFill>
            <a:schemeClr val="tx2"/>
          </a:solidFill>
          <a:latin typeface="Times New Roman" panose="02020603050405020304" pitchFamily="18" charset="0"/>
        </a:defRPr>
      </a:lvl5pPr>
      <a:lvl6pPr marL="457200" algn="ctr" defTabSz="3762375" rtl="0" eaLnBrk="0" fontAlgn="base" hangingPunct="0">
        <a:spcBef>
          <a:spcPct val="0"/>
        </a:spcBef>
        <a:spcAft>
          <a:spcPct val="0"/>
        </a:spcAft>
        <a:defRPr sz="18500">
          <a:solidFill>
            <a:schemeClr val="tx2"/>
          </a:solidFill>
          <a:latin typeface="Times New Roman" panose="02020603050405020304" pitchFamily="18" charset="0"/>
        </a:defRPr>
      </a:lvl6pPr>
      <a:lvl7pPr marL="914400" algn="ctr" defTabSz="3762375" rtl="0" eaLnBrk="0" fontAlgn="base" hangingPunct="0">
        <a:spcBef>
          <a:spcPct val="0"/>
        </a:spcBef>
        <a:spcAft>
          <a:spcPct val="0"/>
        </a:spcAft>
        <a:defRPr sz="18500">
          <a:solidFill>
            <a:schemeClr val="tx2"/>
          </a:solidFill>
          <a:latin typeface="Times New Roman" panose="02020603050405020304" pitchFamily="18" charset="0"/>
        </a:defRPr>
      </a:lvl7pPr>
      <a:lvl8pPr marL="1371600" algn="ctr" defTabSz="3762375" rtl="0" eaLnBrk="0" fontAlgn="base" hangingPunct="0">
        <a:spcBef>
          <a:spcPct val="0"/>
        </a:spcBef>
        <a:spcAft>
          <a:spcPct val="0"/>
        </a:spcAft>
        <a:defRPr sz="18500">
          <a:solidFill>
            <a:schemeClr val="tx2"/>
          </a:solidFill>
          <a:latin typeface="Times New Roman" panose="02020603050405020304" pitchFamily="18" charset="0"/>
        </a:defRPr>
      </a:lvl8pPr>
      <a:lvl9pPr marL="1828800" algn="ctr" defTabSz="3762375" rtl="0" eaLnBrk="0" fontAlgn="base" hangingPunct="0">
        <a:spcBef>
          <a:spcPct val="0"/>
        </a:spcBef>
        <a:spcAft>
          <a:spcPct val="0"/>
        </a:spcAft>
        <a:defRPr sz="18500">
          <a:solidFill>
            <a:schemeClr val="tx2"/>
          </a:solidFill>
          <a:latin typeface="Times New Roman" panose="02020603050405020304" pitchFamily="18" charset="0"/>
        </a:defRPr>
      </a:lvl9pPr>
    </p:titleStyle>
    <p:bodyStyle>
      <a:lvl1pPr marL="1411605" indent="-1411605" algn="l" defTabSz="3762375" rtl="0" eaLnBrk="0" fontAlgn="base" hangingPunct="0">
        <a:spcBef>
          <a:spcPct val="20000"/>
        </a:spcBef>
        <a:spcAft>
          <a:spcPct val="0"/>
        </a:spcAft>
        <a:buChar char="•"/>
        <a:defRPr sz="12800" kern="1200">
          <a:solidFill>
            <a:schemeClr val="tx1"/>
          </a:solidFill>
          <a:latin typeface="+mn-lt"/>
          <a:ea typeface="+mn-ea"/>
          <a:cs typeface="+mn-cs"/>
        </a:defRPr>
      </a:lvl1pPr>
      <a:lvl2pPr marL="3063875" indent="-1183005" algn="l" defTabSz="3762375" rtl="0" eaLnBrk="0" fontAlgn="base" hangingPunct="0">
        <a:spcBef>
          <a:spcPct val="20000"/>
        </a:spcBef>
        <a:spcAft>
          <a:spcPct val="0"/>
        </a:spcAft>
        <a:buChar char="–"/>
        <a:defRPr sz="11100" kern="1200">
          <a:solidFill>
            <a:schemeClr val="tx1"/>
          </a:solidFill>
          <a:latin typeface="+mn-lt"/>
          <a:ea typeface="+mn-ea"/>
          <a:cs typeface="+mn-cs"/>
        </a:defRPr>
      </a:lvl2pPr>
      <a:lvl3pPr marL="4695825" indent="-933450" algn="l" defTabSz="3762375" rtl="0" eaLnBrk="0" fontAlgn="base" hangingPunct="0">
        <a:spcBef>
          <a:spcPct val="20000"/>
        </a:spcBef>
        <a:spcAft>
          <a:spcPct val="0"/>
        </a:spcAft>
        <a:buChar char="•"/>
        <a:defRPr sz="9500" kern="1200">
          <a:solidFill>
            <a:schemeClr val="tx1"/>
          </a:solidFill>
          <a:latin typeface="+mn-lt"/>
          <a:ea typeface="+mn-ea"/>
          <a:cs typeface="+mn-cs"/>
        </a:defRPr>
      </a:lvl3pPr>
      <a:lvl4pPr marL="6577330" indent="-939800" algn="l" defTabSz="3762375" rtl="0" eaLnBrk="0" fontAlgn="base" hangingPunct="0">
        <a:spcBef>
          <a:spcPct val="20000"/>
        </a:spcBef>
        <a:spcAft>
          <a:spcPct val="0"/>
        </a:spcAft>
        <a:buChar char="–"/>
        <a:defRPr sz="7800" kern="1200">
          <a:solidFill>
            <a:schemeClr val="tx1"/>
          </a:solidFill>
          <a:latin typeface="+mn-lt"/>
          <a:ea typeface="+mn-ea"/>
          <a:cs typeface="+mn-cs"/>
        </a:defRPr>
      </a:lvl4pPr>
      <a:lvl5pPr marL="8458200" indent="-941705" algn="l" defTabSz="3762375" rtl="0" eaLnBrk="0" fontAlgn="base" hangingPunct="0">
        <a:spcBef>
          <a:spcPct val="20000"/>
        </a:spcBef>
        <a:spcAft>
          <a:spcPct val="0"/>
        </a:spcAft>
        <a:buChar char="»"/>
        <a:defRPr sz="7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7.xml"/><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 Id="rId3" Type="http://schemas.openxmlformats.org/officeDocument/2006/relationships/image" Target="../media/image2.wmf"/><Relationship Id="rId2" Type="http://schemas.openxmlformats.org/officeDocument/2006/relationships/oleObject" Target="../embeddings/oleObject1.bin"/><Relationship Id="rId10" Type="http://schemas.openxmlformats.org/officeDocument/2006/relationships/notesSlide" Target="../notesSlides/notesSlide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3" name="Rectangle 507"/>
          <p:cNvSpPr>
            <a:spLocks noChangeArrowheads="1"/>
          </p:cNvSpPr>
          <p:nvPr/>
        </p:nvSpPr>
        <p:spPr bwMode="auto">
          <a:xfrm>
            <a:off x="2925763" y="20688300"/>
            <a:ext cx="6537325" cy="103188"/>
          </a:xfrm>
          <a:prstGeom prst="rect">
            <a:avLst/>
          </a:prstGeom>
          <a:gradFill rotWithShape="0">
            <a:gsLst>
              <a:gs pos="0">
                <a:schemeClr val="accent2"/>
              </a:gs>
              <a:gs pos="50000">
                <a:srgbClr val="FFFF00"/>
              </a:gs>
              <a:gs pos="100000">
                <a:schemeClr val="accent2"/>
              </a:gs>
            </a:gsLst>
            <a:lin ang="0" scaled="1"/>
          </a:gradFill>
          <a:ln>
            <a:noFill/>
          </a:ln>
          <a:effectLst/>
        </p:spPr>
        <p:txBody>
          <a:bodyPr wrap="none" anchor="ctr"/>
          <a:lstStyle/>
          <a:p>
            <a:pPr>
              <a:defRPr/>
            </a:pPr>
            <a:endParaRPr lang="en-IN"/>
          </a:p>
        </p:txBody>
      </p:sp>
      <p:sp>
        <p:nvSpPr>
          <p:cNvPr id="4598" name="Rectangle 502"/>
          <p:cNvSpPr>
            <a:spLocks noChangeArrowheads="1"/>
          </p:cNvSpPr>
          <p:nvPr/>
        </p:nvSpPr>
        <p:spPr bwMode="auto">
          <a:xfrm>
            <a:off x="2827338" y="14387663"/>
            <a:ext cx="6538912" cy="103188"/>
          </a:xfrm>
          <a:prstGeom prst="rect">
            <a:avLst/>
          </a:prstGeom>
          <a:gradFill rotWithShape="0">
            <a:gsLst>
              <a:gs pos="0">
                <a:schemeClr val="accent2"/>
              </a:gs>
              <a:gs pos="50000">
                <a:srgbClr val="FFFF00"/>
              </a:gs>
              <a:gs pos="100000">
                <a:schemeClr val="accent2"/>
              </a:gs>
            </a:gsLst>
            <a:lin ang="0" scaled="1"/>
          </a:gradFill>
          <a:ln>
            <a:noFill/>
          </a:ln>
          <a:effectLst/>
        </p:spPr>
        <p:txBody>
          <a:bodyPr wrap="none" anchor="ctr"/>
          <a:lstStyle/>
          <a:p>
            <a:pPr>
              <a:defRPr/>
            </a:pPr>
            <a:endParaRPr lang="en-IN"/>
          </a:p>
        </p:txBody>
      </p:sp>
      <p:sp>
        <p:nvSpPr>
          <p:cNvPr id="4597" name="Rectangle 501"/>
          <p:cNvSpPr>
            <a:spLocks noChangeArrowheads="1"/>
          </p:cNvSpPr>
          <p:nvPr/>
        </p:nvSpPr>
        <p:spPr bwMode="auto">
          <a:xfrm>
            <a:off x="2827338" y="5226050"/>
            <a:ext cx="6538912" cy="103188"/>
          </a:xfrm>
          <a:prstGeom prst="rect">
            <a:avLst/>
          </a:prstGeom>
          <a:gradFill rotWithShape="0">
            <a:gsLst>
              <a:gs pos="0">
                <a:schemeClr val="accent2"/>
              </a:gs>
              <a:gs pos="50000">
                <a:srgbClr val="FFFF00"/>
              </a:gs>
              <a:gs pos="100000">
                <a:schemeClr val="accent2"/>
              </a:gs>
            </a:gsLst>
            <a:lin ang="0" scaled="1"/>
          </a:gradFill>
          <a:ln>
            <a:noFill/>
          </a:ln>
          <a:effectLst/>
        </p:spPr>
        <p:txBody>
          <a:bodyPr wrap="none" anchor="ctr"/>
          <a:lstStyle/>
          <a:p>
            <a:pPr>
              <a:defRPr/>
            </a:pPr>
            <a:endParaRPr lang="en-IN"/>
          </a:p>
        </p:txBody>
      </p:sp>
      <p:sp>
        <p:nvSpPr>
          <p:cNvPr id="4101" name="Rectangle 4"/>
          <p:cNvSpPr>
            <a:spLocks noChangeArrowheads="1"/>
          </p:cNvSpPr>
          <p:nvPr/>
        </p:nvSpPr>
        <p:spPr bwMode="auto">
          <a:xfrm>
            <a:off x="577850" y="623888"/>
            <a:ext cx="35420300" cy="27689175"/>
          </a:xfrm>
          <a:prstGeom prst="rect">
            <a:avLst/>
          </a:prstGeom>
          <a:noFill/>
          <a:ln w="635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endParaRPr lang="en-IN" altLang="en-US"/>
          </a:p>
        </p:txBody>
      </p:sp>
      <p:sp>
        <p:nvSpPr>
          <p:cNvPr id="4102" name="Line 5"/>
          <p:cNvSpPr>
            <a:spLocks noChangeShapeType="1"/>
          </p:cNvSpPr>
          <p:nvPr/>
        </p:nvSpPr>
        <p:spPr bwMode="auto">
          <a:xfrm>
            <a:off x="603250" y="4551363"/>
            <a:ext cx="35369500" cy="0"/>
          </a:xfrm>
          <a:prstGeom prst="line">
            <a:avLst/>
          </a:prstGeom>
          <a:noFill/>
          <a:ln w="635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4104" name="Rectangle 156"/>
          <p:cNvSpPr>
            <a:spLocks noChangeArrowheads="1"/>
          </p:cNvSpPr>
          <p:nvPr/>
        </p:nvSpPr>
        <p:spPr bwMode="auto">
          <a:xfrm>
            <a:off x="0" y="0"/>
            <a:ext cx="3657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endParaRPr lang="en-IN" altLang="en-US"/>
          </a:p>
        </p:txBody>
      </p:sp>
      <p:pic>
        <p:nvPicPr>
          <p:cNvPr id="4105" name="Picture 17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654192" y="1257300"/>
            <a:ext cx="2874963" cy="271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6" name="Text Box 178"/>
          <p:cNvSpPr txBox="1">
            <a:spLocks noChangeArrowheads="1"/>
          </p:cNvSpPr>
          <p:nvPr/>
        </p:nvSpPr>
        <p:spPr bwMode="auto">
          <a:xfrm>
            <a:off x="6530975" y="713740"/>
            <a:ext cx="26831925" cy="989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pPr algn="ctr">
              <a:spcBef>
                <a:spcPct val="50000"/>
              </a:spcBef>
            </a:pPr>
            <a:r>
              <a:rPr lang="en-US" altLang="en-US" sz="4000" dirty="0">
                <a:ea typeface="SimSun" panose="02010600030101010101" pitchFamily="2" charset="-122"/>
              </a:rPr>
              <a:t>PRECISION RUNWAY ENGINEERING: AN INTEGRATED APPROACH TO SITE SELECTION,WIND ALIGNMENT, AND PAVEMENT STRUCTURAL DESIGN</a:t>
            </a:r>
            <a:endParaRPr lang="en-US" altLang="en-US" sz="4000" dirty="0">
              <a:ea typeface="SimSun" panose="02010600030101010101" pitchFamily="2" charset="-122"/>
            </a:endParaRPr>
          </a:p>
        </p:txBody>
      </p:sp>
      <p:sp>
        <p:nvSpPr>
          <p:cNvPr id="4107" name="Text Box 227"/>
          <p:cNvSpPr txBox="1">
            <a:spLocks noChangeArrowheads="1"/>
          </p:cNvSpPr>
          <p:nvPr/>
        </p:nvSpPr>
        <p:spPr bwMode="auto">
          <a:xfrm>
            <a:off x="4249738" y="4792663"/>
            <a:ext cx="3505200"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r>
              <a:rPr lang="en-US" altLang="zh-CN" sz="4800" b="1">
                <a:ea typeface="SimSun" panose="02010600030101010101" pitchFamily="2" charset="-122"/>
              </a:rPr>
              <a:t>Introduction</a:t>
            </a:r>
            <a:endParaRPr lang="en-US" altLang="zh-CN" sz="4800" b="1">
              <a:ea typeface="SimSun" panose="02010600030101010101" pitchFamily="2" charset="-122"/>
            </a:endParaRPr>
          </a:p>
        </p:txBody>
      </p:sp>
      <p:sp>
        <p:nvSpPr>
          <p:cNvPr id="4108" name="Text Box 228"/>
          <p:cNvSpPr txBox="1">
            <a:spLocks noChangeArrowheads="1"/>
          </p:cNvSpPr>
          <p:nvPr/>
        </p:nvSpPr>
        <p:spPr bwMode="auto">
          <a:xfrm>
            <a:off x="3398838" y="20261263"/>
            <a:ext cx="5295900"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r>
              <a:rPr lang="en-US" altLang="zh-CN" sz="4800" b="1" dirty="0">
                <a:ea typeface="SimSun" panose="02010600030101010101" pitchFamily="2" charset="-122"/>
              </a:rPr>
              <a:t>Numerical Analysis</a:t>
            </a:r>
            <a:endParaRPr lang="en-US" altLang="zh-CN" sz="4800" b="1" dirty="0">
              <a:ea typeface="SimSun" panose="02010600030101010101" pitchFamily="2" charset="-122"/>
            </a:endParaRPr>
          </a:p>
        </p:txBody>
      </p:sp>
      <p:sp>
        <p:nvSpPr>
          <p:cNvPr id="4109" name="Line 229"/>
          <p:cNvSpPr>
            <a:spLocks noChangeShapeType="1"/>
          </p:cNvSpPr>
          <p:nvPr/>
        </p:nvSpPr>
        <p:spPr bwMode="auto">
          <a:xfrm>
            <a:off x="11704638" y="5219700"/>
            <a:ext cx="0" cy="2173128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4110" name="Line 231"/>
          <p:cNvSpPr>
            <a:spLocks noChangeShapeType="1"/>
          </p:cNvSpPr>
          <p:nvPr/>
        </p:nvSpPr>
        <p:spPr bwMode="auto">
          <a:xfrm>
            <a:off x="23629303" y="4792663"/>
            <a:ext cx="0" cy="2173128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4111" name="Group 553"/>
          <p:cNvGrpSpPr/>
          <p:nvPr/>
        </p:nvGrpSpPr>
        <p:grpSpPr bwMode="auto">
          <a:xfrm>
            <a:off x="26823988" y="18858256"/>
            <a:ext cx="6538912" cy="823912"/>
            <a:chOff x="17577" y="12279"/>
            <a:chExt cx="4119" cy="519"/>
          </a:xfrm>
        </p:grpSpPr>
        <p:sp>
          <p:nvSpPr>
            <p:cNvPr id="4648" name="Rectangle 552"/>
            <p:cNvSpPr>
              <a:spLocks noChangeArrowheads="1"/>
            </p:cNvSpPr>
            <p:nvPr/>
          </p:nvSpPr>
          <p:spPr bwMode="auto">
            <a:xfrm>
              <a:off x="17577" y="12546"/>
              <a:ext cx="4119" cy="65"/>
            </a:xfrm>
            <a:prstGeom prst="rect">
              <a:avLst/>
            </a:prstGeom>
            <a:gradFill rotWithShape="0">
              <a:gsLst>
                <a:gs pos="0">
                  <a:schemeClr val="accent2"/>
                </a:gs>
                <a:gs pos="50000">
                  <a:srgbClr val="FFFF00"/>
                </a:gs>
                <a:gs pos="100000">
                  <a:schemeClr val="accent2"/>
                </a:gs>
              </a:gsLst>
              <a:lin ang="0" scaled="1"/>
            </a:gradFill>
            <a:ln>
              <a:noFill/>
            </a:ln>
            <a:effectLst/>
          </p:spPr>
          <p:txBody>
            <a:bodyPr wrap="none" anchor="ctr"/>
            <a:lstStyle/>
            <a:p>
              <a:pPr>
                <a:defRPr/>
              </a:pPr>
              <a:endParaRPr lang="en-IN"/>
            </a:p>
          </p:txBody>
        </p:sp>
        <p:sp>
          <p:nvSpPr>
            <p:cNvPr id="4181" name="Text Box 233"/>
            <p:cNvSpPr txBox="1">
              <a:spLocks noChangeArrowheads="1"/>
            </p:cNvSpPr>
            <p:nvPr/>
          </p:nvSpPr>
          <p:spPr bwMode="auto">
            <a:xfrm>
              <a:off x="18630" y="12279"/>
              <a:ext cx="2101" cy="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r>
                <a:rPr lang="en-US" altLang="zh-CN" sz="4800" b="1" dirty="0">
                  <a:ea typeface="SimSun" panose="02010600030101010101" pitchFamily="2" charset="-122"/>
                </a:rPr>
                <a:t>Conclusions</a:t>
              </a:r>
              <a:endParaRPr lang="en-US" altLang="zh-CN" sz="4800" b="1" dirty="0">
                <a:ea typeface="SimSun" panose="02010600030101010101" pitchFamily="2" charset="-122"/>
              </a:endParaRPr>
            </a:p>
          </p:txBody>
        </p:sp>
      </p:grpSp>
      <p:sp>
        <p:nvSpPr>
          <p:cNvPr id="4112" name="Text Box 245"/>
          <p:cNvSpPr txBox="1">
            <a:spLocks noChangeArrowheads="1"/>
          </p:cNvSpPr>
          <p:nvPr/>
        </p:nvSpPr>
        <p:spPr bwMode="auto">
          <a:xfrm>
            <a:off x="824230" y="5889625"/>
            <a:ext cx="10947400" cy="5736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pPr algn="just">
              <a:spcBef>
                <a:spcPct val="50000"/>
              </a:spcBef>
            </a:pPr>
            <a:r>
              <a:rPr lang="en-US" altLang="en-US" sz="3200" dirty="0">
                <a:ea typeface="SimSun" panose="02010600030101010101" pitchFamily="2" charset="-122"/>
              </a:rPr>
              <a:t>● </a:t>
            </a:r>
            <a:r>
              <a:rPr lang="en-US" altLang="en-US" sz="3200" b="1" dirty="0">
                <a:ea typeface="SimSun" panose="02010600030101010101" pitchFamily="2" charset="-122"/>
              </a:rPr>
              <a:t>Context</a:t>
            </a:r>
            <a:r>
              <a:rPr lang="en-US" altLang="en-US" sz="3200" dirty="0">
                <a:ea typeface="SimSun" panose="02010600030101010101" pitchFamily="2" charset="-122"/>
              </a:rPr>
              <a:t>: Airport infrastructure is a vital driver of regional economic development, requiring precise engineering to ensure multi-modal connectivity in Karnataka.</a:t>
            </a:r>
            <a:endParaRPr lang="en-US" altLang="en-US" sz="3200" dirty="0">
              <a:ea typeface="SimSun" panose="02010600030101010101" pitchFamily="2" charset="-122"/>
            </a:endParaRPr>
          </a:p>
          <a:p>
            <a:pPr algn="just">
              <a:spcBef>
                <a:spcPct val="50000"/>
              </a:spcBef>
            </a:pPr>
            <a:r>
              <a:rPr lang="en-US" altLang="en-US" sz="3200" dirty="0">
                <a:ea typeface="SimSun" panose="02010600030101010101" pitchFamily="2" charset="-122"/>
              </a:rPr>
              <a:t>● </a:t>
            </a:r>
            <a:r>
              <a:rPr lang="en-US" altLang="en-US" sz="3200" b="1" dirty="0">
                <a:ea typeface="SimSun" panose="02010600030101010101" pitchFamily="2" charset="-122"/>
              </a:rPr>
              <a:t>Objective</a:t>
            </a:r>
            <a:r>
              <a:rPr lang="en-US" altLang="en-US" sz="3200" dirty="0">
                <a:ea typeface="SimSun" panose="02010600030101010101" pitchFamily="2" charset="-122"/>
              </a:rPr>
              <a:t>: To establish a comprehensive, scalable, and cost-effective framework for airport planning by integrating geospatial automation with mechanistic-empirical design.</a:t>
            </a:r>
            <a:endParaRPr lang="en-US" altLang="en-US" sz="3200" dirty="0">
              <a:ea typeface="SimSun" panose="02010600030101010101" pitchFamily="2" charset="-122"/>
            </a:endParaRPr>
          </a:p>
          <a:p>
            <a:pPr algn="just">
              <a:spcBef>
                <a:spcPct val="50000"/>
              </a:spcBef>
            </a:pPr>
            <a:r>
              <a:rPr lang="en-US" altLang="en-US" sz="3200" dirty="0">
                <a:ea typeface="SimSun" panose="02010600030101010101" pitchFamily="2" charset="-122"/>
              </a:rPr>
              <a:t>● </a:t>
            </a:r>
            <a:r>
              <a:rPr lang="en-US" altLang="en-US" sz="3200" b="1" dirty="0">
                <a:ea typeface="SimSun" panose="02010600030101010101" pitchFamily="2" charset="-122"/>
              </a:rPr>
              <a:t>Core Focus</a:t>
            </a:r>
            <a:r>
              <a:rPr lang="en-US" altLang="en-US" sz="3200" dirty="0">
                <a:ea typeface="SimSun" panose="02010600030101010101" pitchFamily="2" charset="-122"/>
              </a:rPr>
              <a:t>: Optimization of runway site selection, wind-based alignment, and pavement structural integrity for high-capacity narrow-body aircraft.</a:t>
            </a:r>
            <a:endParaRPr lang="en-US" altLang="en-US" sz="3200" dirty="0">
              <a:ea typeface="SimSun" panose="02010600030101010101" pitchFamily="2" charset="-122"/>
            </a:endParaRPr>
          </a:p>
          <a:p>
            <a:pPr algn="just">
              <a:spcBef>
                <a:spcPct val="50000"/>
              </a:spcBef>
            </a:pPr>
            <a:r>
              <a:rPr lang="en-US" altLang="en-US" sz="3200" dirty="0">
                <a:ea typeface="SimSun" panose="02010600030101010101" pitchFamily="2" charset="-122"/>
              </a:rPr>
              <a:t>● </a:t>
            </a:r>
            <a:r>
              <a:rPr lang="en-US" altLang="en-US" sz="3200" b="1" dirty="0">
                <a:ea typeface="SimSun" panose="02010600030101010101" pitchFamily="2" charset="-122"/>
              </a:rPr>
              <a:t>Methodology</a:t>
            </a:r>
            <a:r>
              <a:rPr lang="en-US" altLang="en-US" sz="3200" dirty="0">
                <a:ea typeface="SimSun" panose="02010600030101010101" pitchFamily="2" charset="-122"/>
              </a:rPr>
              <a:t>: Utilizing a JavaScript-based Google Earth Engine (GEE) pipeline for spatial filtering combined with ICAO-standard meteorological and FAARFIELD structural analysis.</a:t>
            </a:r>
            <a:endParaRPr lang="en-US" altLang="en-US" sz="3200" dirty="0">
              <a:ea typeface="SimSun" panose="02010600030101010101" pitchFamily="2" charset="-122"/>
            </a:endParaRPr>
          </a:p>
        </p:txBody>
      </p:sp>
      <p:sp>
        <p:nvSpPr>
          <p:cNvPr id="4113" name="Text Box 246"/>
          <p:cNvSpPr txBox="1">
            <a:spLocks noChangeArrowheads="1"/>
          </p:cNvSpPr>
          <p:nvPr/>
        </p:nvSpPr>
        <p:spPr bwMode="auto">
          <a:xfrm>
            <a:off x="805180" y="15105380"/>
            <a:ext cx="10786745" cy="6258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pPr algn="just" eaLnBrk="1" hangingPunct="1"/>
            <a:r>
              <a:rPr lang="en-US" altLang="en-US" sz="3200" b="1" dirty="0"/>
              <a:t> </a:t>
            </a:r>
            <a:r>
              <a:rPr lang="en-US" altLang="en-US" sz="3200" dirty="0"/>
              <a:t>●</a:t>
            </a:r>
            <a:r>
              <a:rPr lang="en-US" altLang="en-US" sz="3200" b="1" dirty="0"/>
              <a:t>Geospatial Extent</a:t>
            </a:r>
            <a:r>
              <a:rPr lang="en-US" altLang="en-US" sz="3200" dirty="0"/>
              <a:t>: Covers the entire 191,791 km² boundary of Karnataka state to identify underserved, topographically suitable land clusters.</a:t>
            </a:r>
            <a:endParaRPr lang="en-US" altLang="en-US" sz="3200" dirty="0"/>
          </a:p>
          <a:p>
            <a:pPr algn="just" eaLnBrk="1" hangingPunct="1"/>
            <a:r>
              <a:rPr lang="en-US" altLang="en-US" sz="3200" dirty="0"/>
              <a:t>● </a:t>
            </a:r>
            <a:r>
              <a:rPr lang="en-US" altLang="en-US" sz="3200" b="1" dirty="0"/>
              <a:t>Operational Class</a:t>
            </a:r>
            <a:r>
              <a:rPr lang="en-US" altLang="en-US" sz="3200" dirty="0"/>
              <a:t>: Designed for Aerodrome Reference Code 4C, specifically supporting the Boeing 737-900W as the Critical Design Aircraft (CDA).</a:t>
            </a:r>
            <a:endParaRPr lang="en-US" altLang="en-US" sz="3200" dirty="0"/>
          </a:p>
          <a:p>
            <a:pPr algn="just" eaLnBrk="1" hangingPunct="1"/>
            <a:r>
              <a:rPr lang="en-US" altLang="en-US" sz="3200" dirty="0"/>
              <a:t>●</a:t>
            </a:r>
            <a:r>
              <a:rPr lang="en-US" altLang="en-US" sz="3200" b="1" dirty="0"/>
              <a:t>Technical Depth</a:t>
            </a:r>
            <a:r>
              <a:rPr lang="en-US" altLang="en-US" sz="3200" dirty="0"/>
              <a:t>: Includes 10-year historical wind data scrubbing, 20-year pavement fatigue modeling (CDF), and ICAO-standard runway length corrections.</a:t>
            </a:r>
            <a:endParaRPr lang="en-US" altLang="en-US" sz="3200" dirty="0"/>
          </a:p>
        </p:txBody>
      </p:sp>
      <p:sp>
        <p:nvSpPr>
          <p:cNvPr id="4114" name="Text Box 247"/>
          <p:cNvSpPr txBox="1">
            <a:spLocks noChangeArrowheads="1"/>
          </p:cNvSpPr>
          <p:nvPr/>
        </p:nvSpPr>
        <p:spPr bwMode="auto">
          <a:xfrm>
            <a:off x="5208905" y="13975548"/>
            <a:ext cx="17653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r>
              <a:rPr lang="en-US" altLang="zh-CN" sz="4800" b="1">
                <a:ea typeface="SimSun" panose="02010600030101010101" pitchFamily="2" charset="-122"/>
              </a:rPr>
              <a:t>Scope</a:t>
            </a:r>
            <a:endParaRPr lang="en-US" altLang="zh-CN" sz="4800" b="1">
              <a:ea typeface="SimSun" panose="02010600030101010101" pitchFamily="2" charset="-122"/>
            </a:endParaRPr>
          </a:p>
        </p:txBody>
      </p:sp>
      <p:sp>
        <p:nvSpPr>
          <p:cNvPr id="4115" name="Text Box 620"/>
          <p:cNvSpPr txBox="1">
            <a:spLocks noChangeArrowheads="1"/>
          </p:cNvSpPr>
          <p:nvPr/>
        </p:nvSpPr>
        <p:spPr bwMode="auto">
          <a:xfrm>
            <a:off x="27751088" y="23514050"/>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endParaRPr lang="zh-CN" altLang="en-US" sz="2000">
              <a:ea typeface="SimSun" panose="02010600030101010101" pitchFamily="2" charset="-122"/>
            </a:endParaRPr>
          </a:p>
        </p:txBody>
      </p:sp>
      <p:sp>
        <p:nvSpPr>
          <p:cNvPr id="4118" name="Text Box 625"/>
          <p:cNvSpPr txBox="1">
            <a:spLocks noChangeArrowheads="1"/>
          </p:cNvSpPr>
          <p:nvPr/>
        </p:nvSpPr>
        <p:spPr bwMode="auto">
          <a:xfrm>
            <a:off x="824230" y="20998180"/>
            <a:ext cx="10706100" cy="986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pPr algn="just"/>
            <a:r>
              <a:rPr lang="en-US" altLang="en-US" sz="3200" dirty="0"/>
              <a:t>● </a:t>
            </a:r>
            <a:r>
              <a:rPr lang="en-US" altLang="en-US" sz="3200" b="1" dirty="0"/>
              <a:t>Spatial Filtering</a:t>
            </a:r>
            <a:r>
              <a:rPr lang="en-US" altLang="en-US" sz="3200" dirty="0"/>
              <a:t>: Sequential GIS filters (Land Cover and Slope &lt; 5°) reduced the initial state area to 803 viable clusters over 3 km².</a:t>
            </a:r>
            <a:endParaRPr lang="en-US" altLang="en-US" sz="3200" dirty="0"/>
          </a:p>
          <a:p>
            <a:pPr algn="just"/>
            <a:r>
              <a:rPr lang="en-US" altLang="en-US" sz="3200" dirty="0"/>
              <a:t>● </a:t>
            </a:r>
            <a:r>
              <a:rPr lang="en-US" altLang="en-US" sz="3200" b="1" dirty="0"/>
              <a:t>Weighted Ranking</a:t>
            </a:r>
            <a:r>
              <a:rPr lang="en-US" altLang="en-US" sz="3200" dirty="0"/>
              <a:t>: Sites were scored using a Multi-Criteria formula: 30% Area, 25% Slope, 20% Road Access, 15% Urban Safety, and 10% Growth Potential.</a:t>
            </a:r>
            <a:endParaRPr lang="en-US" altLang="en-US" sz="3200" dirty="0"/>
          </a:p>
          <a:p>
            <a:pPr algn="just"/>
            <a:r>
              <a:rPr lang="en-US" altLang="en-US" sz="3200" dirty="0"/>
              <a:t>● </a:t>
            </a:r>
            <a:r>
              <a:rPr lang="en-US" altLang="en-US" sz="3200" b="1" dirty="0"/>
              <a:t>Wind Usability</a:t>
            </a:r>
            <a:r>
              <a:rPr lang="en-US" altLang="en-US" sz="3200" dirty="0"/>
              <a:t>: Analysis of 87,000+ observations confirmed that a 09/27 (East-West) alignment provides a 100% Usability Factor.</a:t>
            </a:r>
            <a:endParaRPr lang="en-US" altLang="en-US" sz="3200" dirty="0"/>
          </a:p>
          <a:p>
            <a:pPr algn="just"/>
            <a:r>
              <a:rPr lang="en-US" altLang="en-US" sz="3200" dirty="0"/>
              <a:t>● </a:t>
            </a:r>
            <a:r>
              <a:rPr lang="en-US" altLang="en-US" sz="3200" b="1" dirty="0"/>
              <a:t>Length Corrections</a:t>
            </a:r>
            <a:r>
              <a:rPr lang="en-US" altLang="en-US" sz="3200" dirty="0"/>
              <a:t>: A basic runway length of 2,250 m was corrected for elevation (449m), Airport Reference Temperature (33°C), and gradient (0.3%).</a:t>
            </a:r>
            <a:endParaRPr lang="en-US" altLang="en-US" sz="3200" dirty="0"/>
          </a:p>
          <a:p>
            <a:pPr algn="just"/>
            <a:endParaRPr lang="en-US" altLang="en-US" sz="3200" dirty="0"/>
          </a:p>
        </p:txBody>
      </p:sp>
      <p:graphicFrame>
        <p:nvGraphicFramePr>
          <p:cNvPr id="4120" name="Object 629"/>
          <p:cNvGraphicFramePr>
            <a:graphicFrameLocks noChangeAspect="1"/>
          </p:cNvGraphicFramePr>
          <p:nvPr/>
        </p:nvGraphicFramePr>
        <p:xfrm>
          <a:off x="18495963" y="20142200"/>
          <a:ext cx="165100" cy="165100"/>
        </p:xfrm>
        <a:graphic>
          <a:graphicData uri="http://schemas.openxmlformats.org/presentationml/2006/ole">
            <mc:AlternateContent xmlns:mc="http://schemas.openxmlformats.org/markup-compatibility/2006">
              <mc:Choice xmlns:v="urn:schemas-microsoft-com:vml" Requires="v">
                <p:oleObj spid="_x0000_s2" name="Equation" r:id="rId2" imgW="165100" imgH="165100" progId="Equation.3">
                  <p:embed/>
                </p:oleObj>
              </mc:Choice>
              <mc:Fallback>
                <p:oleObj name="Equation" r:id="rId2" imgW="165100" imgH="165100" progId="Equation.3">
                  <p:embed/>
                  <p:pic>
                    <p:nvPicPr>
                      <p:cNvPr id="0" name="Object 6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95963" y="20142200"/>
                        <a:ext cx="165100" cy="165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21" name="Rectangle 632"/>
          <p:cNvSpPr>
            <a:spLocks noChangeArrowheads="1"/>
          </p:cNvSpPr>
          <p:nvPr/>
        </p:nvSpPr>
        <p:spPr bwMode="auto">
          <a:xfrm>
            <a:off x="18154650" y="14516100"/>
            <a:ext cx="3657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endParaRPr lang="en-IN" altLang="en-US"/>
          </a:p>
        </p:txBody>
      </p:sp>
      <p:sp>
        <p:nvSpPr>
          <p:cNvPr id="4731" name="Rectangle 635"/>
          <p:cNvSpPr>
            <a:spLocks noChangeArrowheads="1"/>
          </p:cNvSpPr>
          <p:nvPr/>
        </p:nvSpPr>
        <p:spPr bwMode="auto">
          <a:xfrm>
            <a:off x="14043343" y="8714474"/>
            <a:ext cx="6538912" cy="103187"/>
          </a:xfrm>
          <a:prstGeom prst="rect">
            <a:avLst/>
          </a:prstGeom>
          <a:gradFill rotWithShape="0">
            <a:gsLst>
              <a:gs pos="0">
                <a:schemeClr val="accent2"/>
              </a:gs>
              <a:gs pos="50000">
                <a:srgbClr val="FFFF00"/>
              </a:gs>
              <a:gs pos="100000">
                <a:schemeClr val="accent2"/>
              </a:gs>
            </a:gsLst>
            <a:lin ang="0" scaled="1"/>
          </a:gradFill>
          <a:ln>
            <a:noFill/>
          </a:ln>
          <a:effectLst/>
        </p:spPr>
        <p:txBody>
          <a:bodyPr wrap="none" anchor="ctr"/>
          <a:lstStyle/>
          <a:p>
            <a:pPr>
              <a:defRPr/>
            </a:pPr>
            <a:endParaRPr lang="en-IN"/>
          </a:p>
        </p:txBody>
      </p:sp>
      <p:sp>
        <p:nvSpPr>
          <p:cNvPr id="4123" name="Text Box 636"/>
          <p:cNvSpPr txBox="1">
            <a:spLocks noChangeArrowheads="1"/>
          </p:cNvSpPr>
          <p:nvPr/>
        </p:nvSpPr>
        <p:spPr bwMode="auto">
          <a:xfrm>
            <a:off x="14323060" y="8305851"/>
            <a:ext cx="611187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r>
              <a:rPr lang="en-US" altLang="zh-CN" sz="4800" b="1">
                <a:ea typeface="SimSun" panose="02010600030101010101" pitchFamily="2" charset="-122"/>
              </a:rPr>
              <a:t>Results and Discussion</a:t>
            </a:r>
            <a:endParaRPr lang="en-US" altLang="zh-CN" sz="4800" b="1">
              <a:ea typeface="SimSun" panose="02010600030101010101" pitchFamily="2" charset="-122"/>
            </a:endParaRPr>
          </a:p>
        </p:txBody>
      </p:sp>
      <p:sp>
        <p:nvSpPr>
          <p:cNvPr id="4124" name="Rectangle 732"/>
          <p:cNvSpPr>
            <a:spLocks noChangeArrowheads="1"/>
          </p:cNvSpPr>
          <p:nvPr/>
        </p:nvSpPr>
        <p:spPr bwMode="auto">
          <a:xfrm>
            <a:off x="17611725" y="14387513"/>
            <a:ext cx="3657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endParaRPr lang="en-IN" altLang="en-US"/>
          </a:p>
        </p:txBody>
      </p:sp>
      <p:sp>
        <p:nvSpPr>
          <p:cNvPr id="4125" name="Rectangle 734"/>
          <p:cNvSpPr>
            <a:spLocks noChangeArrowheads="1"/>
          </p:cNvSpPr>
          <p:nvPr/>
        </p:nvSpPr>
        <p:spPr bwMode="auto">
          <a:xfrm>
            <a:off x="17611725" y="14387513"/>
            <a:ext cx="3657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endParaRPr lang="en-IN" altLang="en-US"/>
          </a:p>
        </p:txBody>
      </p:sp>
      <p:sp>
        <p:nvSpPr>
          <p:cNvPr id="4126" name="Text Box 737"/>
          <p:cNvSpPr txBox="1">
            <a:spLocks noChangeArrowheads="1"/>
          </p:cNvSpPr>
          <p:nvPr/>
        </p:nvSpPr>
        <p:spPr bwMode="auto">
          <a:xfrm>
            <a:off x="11879580" y="9517380"/>
            <a:ext cx="11710670" cy="1743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pPr algn="just">
              <a:spcBef>
                <a:spcPct val="50000"/>
              </a:spcBef>
            </a:pPr>
            <a:r>
              <a:rPr lang="en-US" altLang="en-US" sz="3200" dirty="0">
                <a:ea typeface="SimSun" panose="02010600030101010101" pitchFamily="2" charset="-122"/>
              </a:rPr>
              <a:t>● Primary Candidate: Gulbarga (Site R1) emerged as the top-ranked location with a score of 94.2 and 13.9 km² of available area.</a:t>
            </a:r>
            <a:endParaRPr lang="en-US" altLang="en-US" sz="3200" dirty="0">
              <a:ea typeface="SimSun" panose="02010600030101010101" pitchFamily="2" charset="-122"/>
            </a:endParaRPr>
          </a:p>
          <a:p>
            <a:pPr algn="just">
              <a:spcBef>
                <a:spcPct val="50000"/>
              </a:spcBef>
            </a:pPr>
            <a:r>
              <a:rPr lang="en-US" altLang="en-US" sz="3200" dirty="0">
                <a:ea typeface="SimSun" panose="02010600030101010101" pitchFamily="2" charset="-122"/>
              </a:rPr>
              <a:t>● Regional Suitability: High-potential clusters are concentrated in Gulbarga (31%),Belagavi (25%), and Vijayapura (19%).</a:t>
            </a:r>
            <a:endParaRPr lang="en-US" altLang="en-US" sz="3200" dirty="0">
              <a:ea typeface="SimSun" panose="02010600030101010101" pitchFamily="2" charset="-122"/>
            </a:endParaRPr>
          </a:p>
          <a:p>
            <a:pPr algn="just">
              <a:spcBef>
                <a:spcPct val="50000"/>
              </a:spcBef>
            </a:pPr>
            <a:r>
              <a:rPr lang="en-US" altLang="en-US" sz="3200" dirty="0">
                <a:ea typeface="SimSun" panose="02010600030101010101" pitchFamily="2" charset="-122"/>
              </a:rPr>
              <a:t>● Optimal Alignment: The East-West orientation minimizes crosswinds from the dominant Westerly monsoon patterns of the Deccan Plateau.</a:t>
            </a:r>
            <a:endParaRPr lang="en-US" altLang="en-US" sz="3200" dirty="0">
              <a:ea typeface="SimSun" panose="02010600030101010101" pitchFamily="2" charset="-122"/>
            </a:endParaRPr>
          </a:p>
          <a:p>
            <a:pPr algn="just">
              <a:spcBef>
                <a:spcPct val="50000"/>
              </a:spcBef>
            </a:pPr>
            <a:r>
              <a:rPr lang="en-US" altLang="en-US" sz="3200" dirty="0">
                <a:ea typeface="SimSun" panose="02010600030101010101" pitchFamily="2" charset="-122"/>
              </a:rPr>
              <a:t>● Final Runway Dimensions: A adopted runway length of 3,200 m and width of 45 m meets all Code 4C safety requirements.</a:t>
            </a:r>
            <a:endParaRPr lang="en-US" altLang="en-US" sz="3200" dirty="0">
              <a:ea typeface="SimSun" panose="02010600030101010101" pitchFamily="2" charset="-122"/>
            </a:endParaRPr>
          </a:p>
          <a:p>
            <a:pPr algn="just">
              <a:spcBef>
                <a:spcPct val="50000"/>
              </a:spcBef>
            </a:pPr>
            <a:r>
              <a:rPr lang="en-US" altLang="en-US" sz="3200" dirty="0">
                <a:ea typeface="SimSun" panose="02010600030101010101" pitchFamily="2" charset="-122"/>
              </a:rPr>
              <a:t>● Maneuverability: Designed taxiway turning radii of 550 m far exceed the 153.9 m minimum steering requirement for the Boeing 737-900.</a:t>
            </a:r>
            <a:endParaRPr lang="en-US" altLang="en-US" sz="3200" dirty="0">
              <a:ea typeface="SimSun" panose="02010600030101010101" pitchFamily="2" charset="-122"/>
            </a:endParaRPr>
          </a:p>
          <a:p>
            <a:pPr algn="just">
              <a:spcBef>
                <a:spcPct val="50000"/>
              </a:spcBef>
            </a:pPr>
            <a:r>
              <a:rPr lang="en-US" altLang="en-US" sz="3200" dirty="0">
                <a:ea typeface="SimSun" panose="02010600030101010101" pitchFamily="2" charset="-122"/>
              </a:rPr>
              <a:t>● Subgrade Assessment: Red loamy/lateritic soils with a soaked CBR of 7% (Subgrade Modulus: 10,500 psi) were identified as the design baseline.</a:t>
            </a:r>
            <a:endParaRPr lang="en-US" altLang="en-US" sz="3200" dirty="0">
              <a:ea typeface="SimSun" panose="02010600030101010101" pitchFamily="2" charset="-122"/>
            </a:endParaRPr>
          </a:p>
          <a:p>
            <a:pPr algn="just">
              <a:spcBef>
                <a:spcPct val="50000"/>
              </a:spcBef>
            </a:pPr>
            <a:r>
              <a:rPr lang="en-US" altLang="en-US" sz="3200" dirty="0">
                <a:ea typeface="SimSun" panose="02010600030101010101" pitchFamily="2" charset="-122"/>
              </a:rPr>
              <a:t>● Structural Composition: The optimized cross-section consists of 4" HMA Surface, 9"Crushed Aggregate Base, and 14" Granular Subbase.</a:t>
            </a:r>
            <a:endParaRPr lang="en-US" altLang="en-US" sz="3200" dirty="0">
              <a:ea typeface="SimSun" panose="02010600030101010101" pitchFamily="2" charset="-122"/>
            </a:endParaRPr>
          </a:p>
          <a:p>
            <a:pPr algn="just">
              <a:spcBef>
                <a:spcPct val="50000"/>
              </a:spcBef>
            </a:pPr>
            <a:r>
              <a:rPr lang="en-US" altLang="en-US" sz="3200" dirty="0">
                <a:ea typeface="SimSun" panose="02010600030101010101" pitchFamily="2" charset="-122"/>
              </a:rPr>
              <a:t>● Bearing Capacity: The final PCN Rating is established as 61/F/C/W/T, matching the Aircraft Classification Number (ACN) of the CDA.</a:t>
            </a:r>
            <a:endParaRPr lang="en-US" altLang="en-US" sz="3200" dirty="0">
              <a:ea typeface="SimSun" panose="02010600030101010101" pitchFamily="2" charset="-122"/>
            </a:endParaRPr>
          </a:p>
          <a:p>
            <a:pPr algn="just">
              <a:spcBef>
                <a:spcPct val="50000"/>
              </a:spcBef>
            </a:pPr>
            <a:r>
              <a:rPr lang="en-US" altLang="en-US" sz="3200" dirty="0">
                <a:ea typeface="SimSun" panose="02010600030101010101" pitchFamily="2" charset="-122"/>
              </a:rPr>
              <a:t>● Verification: Manual CBR calculations (estimating 580–620 mm) closely validated the FAARFIELD software outputs.</a:t>
            </a:r>
            <a:endParaRPr lang="en-US" altLang="en-US" sz="3200" dirty="0">
              <a:ea typeface="SimSun" panose="02010600030101010101" pitchFamily="2" charset="-122"/>
            </a:endParaRPr>
          </a:p>
          <a:p>
            <a:pPr algn="just">
              <a:spcBef>
                <a:spcPct val="50000"/>
              </a:spcBef>
            </a:pPr>
            <a:r>
              <a:rPr lang="en-US" altLang="en-US" sz="3200" dirty="0">
                <a:ea typeface="SimSun" panose="02010600030101010101" pitchFamily="2" charset="-122"/>
              </a:rPr>
              <a:t>● Automation Efficacy: The study proves that GEE-based remote sensing can drastically reduce the cost and time of preliminary feasibility surveys.</a:t>
            </a:r>
            <a:endParaRPr lang="en-US" altLang="en-US" sz="3200" dirty="0">
              <a:ea typeface="SimSun" panose="02010600030101010101" pitchFamily="2" charset="-122"/>
            </a:endParaRPr>
          </a:p>
        </p:txBody>
      </p:sp>
      <p:sp>
        <p:nvSpPr>
          <p:cNvPr id="4129" name="Text Box 742"/>
          <p:cNvSpPr txBox="1">
            <a:spLocks noChangeArrowheads="1"/>
          </p:cNvSpPr>
          <p:nvPr/>
        </p:nvSpPr>
        <p:spPr bwMode="auto">
          <a:xfrm>
            <a:off x="23820755" y="19645630"/>
            <a:ext cx="12018645" cy="3878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pPr algn="just"/>
            <a:r>
              <a:rPr lang="en-US" altLang="en-US" sz="3200" dirty="0"/>
              <a:t>The project successfully demonstrates an integrated, objective framework for modern aviation planning.By merging geospatial intelligence with rigorous structural and meteorological analysis, we identified technically and logistically viable sites capable of supporting high-capacity narrow-body jet operations in underserved regions of Karnataka</a:t>
            </a:r>
            <a:r>
              <a:rPr lang="en-US" altLang="en-US" sz="2000" dirty="0"/>
              <a:t>.</a:t>
            </a:r>
            <a:endParaRPr lang="en-US" altLang="en-US" sz="2000" dirty="0"/>
          </a:p>
        </p:txBody>
      </p:sp>
      <p:sp>
        <p:nvSpPr>
          <p:cNvPr id="4130" name="Text Box 743"/>
          <p:cNvSpPr txBox="1">
            <a:spLocks noChangeArrowheads="1"/>
          </p:cNvSpPr>
          <p:nvPr/>
        </p:nvSpPr>
        <p:spPr bwMode="auto">
          <a:xfrm>
            <a:off x="5967095" y="1938655"/>
            <a:ext cx="26174065" cy="261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pPr algn="ctr">
              <a:tabLst>
                <a:tab pos="2637155" algn="ctr"/>
                <a:tab pos="5274310" algn="r"/>
              </a:tabLst>
            </a:pPr>
            <a:r>
              <a:rPr lang="en-US" sz="4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Professional Association For Civil Engineering, </a:t>
            </a:r>
            <a:r>
              <a:rPr kumimoji="0" lang="en-US" altLang="en-US" sz="4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NITK </a:t>
            </a:r>
            <a:r>
              <a:rPr lang="en-IN" altLang="en-US" sz="4000" dirty="0">
                <a:solidFill>
                  <a:srgbClr val="000000"/>
                </a:solidFill>
              </a:rPr>
              <a:t>Surathkal</a:t>
            </a:r>
            <a:endParaRPr lang="en-US" altLang="en-US" sz="4000" dirty="0">
              <a:solidFill>
                <a:srgbClr val="474747"/>
              </a:solidFill>
              <a:cs typeface="Times New Roman" panose="02020603050405020304" pitchFamily="18" charset="0"/>
            </a:endParaRPr>
          </a:p>
          <a:p>
            <a:pPr algn="ctr"/>
            <a:r>
              <a:rPr lang="en-IN" altLang="en-US" sz="4000" b="1" dirty="0"/>
              <a:t>Mentor:</a:t>
            </a:r>
            <a:r>
              <a:rPr lang="en-IN" altLang="en-US" sz="4000" dirty="0"/>
              <a:t> </a:t>
            </a:r>
            <a:r>
              <a:rPr lang="en-US" altLang="en-US" sz="4000" dirty="0"/>
              <a:t>Gajendra Kinodiya, Sanjana, Aarshi Sinha</a:t>
            </a:r>
            <a:br>
              <a:rPr lang="en-IN" altLang="en-US" sz="4000" dirty="0"/>
            </a:br>
            <a:r>
              <a:rPr lang="en-IN" altLang="en-US" sz="4000" b="1" dirty="0"/>
              <a:t>Mentees:</a:t>
            </a:r>
            <a:r>
              <a:rPr lang="en-US" altLang="en-US" sz="4000" dirty="0">
                <a:ea typeface="SimSun" panose="02010600030101010101" pitchFamily="2" charset="-122"/>
              </a:rPr>
              <a:t>Shreya V. Buchade, Hitee Yadav, Bogala Lakshmi B., Kaushik Patel, Astik Kumar,</a:t>
            </a:r>
            <a:endParaRPr lang="en-US" altLang="en-US" sz="4000" dirty="0">
              <a:ea typeface="SimSun" panose="02010600030101010101" pitchFamily="2" charset="-122"/>
            </a:endParaRPr>
          </a:p>
          <a:p>
            <a:pPr algn="ctr"/>
            <a:r>
              <a:rPr lang="en-US" altLang="en-US" sz="4000" dirty="0">
                <a:ea typeface="SimSun" panose="02010600030101010101" pitchFamily="2" charset="-122"/>
              </a:rPr>
              <a:t>Tanush Karkade, Anubhav Narayan Rob</a:t>
            </a:r>
            <a:endParaRPr lang="en-US" altLang="en-US" sz="4000" dirty="0">
              <a:ea typeface="SimSun" panose="02010600030101010101" pitchFamily="2" charset="-122"/>
            </a:endParaRPr>
          </a:p>
        </p:txBody>
      </p:sp>
      <p:sp>
        <p:nvSpPr>
          <p:cNvPr id="4149" name="Rectangle 752"/>
          <p:cNvSpPr>
            <a:spLocks noChangeArrowheads="1"/>
          </p:cNvSpPr>
          <p:nvPr/>
        </p:nvSpPr>
        <p:spPr bwMode="auto">
          <a:xfrm>
            <a:off x="13608050" y="19564350"/>
            <a:ext cx="10598150"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9900">
                <a:solidFill>
                  <a:schemeClr val="tx1"/>
                </a:solidFill>
                <a:latin typeface="Times New Roman" panose="02020603050405020304" pitchFamily="18" charset="0"/>
              </a:defRPr>
            </a:lvl1pPr>
            <a:lvl2pPr marL="742950" indent="-285750">
              <a:defRPr sz="9900">
                <a:solidFill>
                  <a:schemeClr val="tx1"/>
                </a:solidFill>
                <a:latin typeface="Times New Roman" panose="02020603050405020304" pitchFamily="18" charset="0"/>
              </a:defRPr>
            </a:lvl2pPr>
            <a:lvl3pPr marL="1143000" indent="-228600">
              <a:defRPr sz="9900">
                <a:solidFill>
                  <a:schemeClr val="tx1"/>
                </a:solidFill>
                <a:latin typeface="Times New Roman" panose="02020603050405020304" pitchFamily="18" charset="0"/>
              </a:defRPr>
            </a:lvl3pPr>
            <a:lvl4pPr marL="1600200" indent="-228600">
              <a:defRPr sz="9900">
                <a:solidFill>
                  <a:schemeClr val="tx1"/>
                </a:solidFill>
                <a:latin typeface="Times New Roman" panose="02020603050405020304" pitchFamily="18" charset="0"/>
              </a:defRPr>
            </a:lvl4pPr>
            <a:lvl5pPr marL="2057400" indent="-228600">
              <a:defRPr sz="9900">
                <a:solidFill>
                  <a:schemeClr val="tx1"/>
                </a:solidFill>
                <a:latin typeface="Times New Roman" panose="02020603050405020304" pitchFamily="18" charset="0"/>
              </a:defRPr>
            </a:lvl5pPr>
            <a:lvl6pPr marL="2514600" indent="-228600" eaLnBrk="0" fontAlgn="base" hangingPunct="0">
              <a:spcBef>
                <a:spcPct val="0"/>
              </a:spcBef>
              <a:spcAft>
                <a:spcPct val="0"/>
              </a:spcAft>
              <a:defRPr sz="9900">
                <a:solidFill>
                  <a:schemeClr val="tx1"/>
                </a:solidFill>
                <a:latin typeface="Times New Roman" panose="02020603050405020304" pitchFamily="18" charset="0"/>
              </a:defRPr>
            </a:lvl6pPr>
            <a:lvl7pPr marL="2971800" indent="-228600" eaLnBrk="0" fontAlgn="base" hangingPunct="0">
              <a:spcBef>
                <a:spcPct val="0"/>
              </a:spcBef>
              <a:spcAft>
                <a:spcPct val="0"/>
              </a:spcAft>
              <a:defRPr sz="9900">
                <a:solidFill>
                  <a:schemeClr val="tx1"/>
                </a:solidFill>
                <a:latin typeface="Times New Roman" panose="02020603050405020304" pitchFamily="18" charset="0"/>
              </a:defRPr>
            </a:lvl7pPr>
            <a:lvl8pPr marL="3429000" indent="-228600" eaLnBrk="0" fontAlgn="base" hangingPunct="0">
              <a:spcBef>
                <a:spcPct val="0"/>
              </a:spcBef>
              <a:spcAft>
                <a:spcPct val="0"/>
              </a:spcAft>
              <a:defRPr sz="9900">
                <a:solidFill>
                  <a:schemeClr val="tx1"/>
                </a:solidFill>
                <a:latin typeface="Times New Roman" panose="02020603050405020304" pitchFamily="18" charset="0"/>
              </a:defRPr>
            </a:lvl8pPr>
            <a:lvl9pPr marL="3886200" indent="-228600" eaLnBrk="0" fontAlgn="base" hangingPunct="0">
              <a:spcBef>
                <a:spcPct val="0"/>
              </a:spcBef>
              <a:spcAft>
                <a:spcPct val="0"/>
              </a:spcAft>
              <a:defRPr sz="9900">
                <a:solidFill>
                  <a:schemeClr val="tx1"/>
                </a:solidFill>
                <a:latin typeface="Times New Roman" panose="02020603050405020304" pitchFamily="18" charset="0"/>
              </a:defRPr>
            </a:lvl9pPr>
          </a:lstStyle>
          <a:p>
            <a:endParaRPr lang="en-IN" altLang="en-US"/>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rcRect l="5911" t="33688" r="4453" b="32552"/>
          <a:stretch>
            <a:fillRect/>
          </a:stretch>
        </p:blipFill>
        <p:spPr>
          <a:xfrm>
            <a:off x="1044650" y="1218105"/>
            <a:ext cx="5464176" cy="2815103"/>
          </a:xfrm>
          <a:prstGeom prst="rect">
            <a:avLst/>
          </a:prstGeom>
        </p:spPr>
      </p:pic>
      <p:sp>
        <p:nvSpPr>
          <p:cNvPr id="4" name="Text Box 3"/>
          <p:cNvSpPr txBox="1"/>
          <p:nvPr/>
        </p:nvSpPr>
        <p:spPr>
          <a:xfrm>
            <a:off x="11878945" y="5411470"/>
            <a:ext cx="11530965" cy="4441190"/>
          </a:xfrm>
          <a:prstGeom prst="rect">
            <a:avLst/>
          </a:prstGeom>
          <a:noFill/>
        </p:spPr>
        <p:txBody>
          <a:bodyPr wrap="square" rtlCol="0">
            <a:noAutofit/>
          </a:bodyPr>
          <a:p>
            <a:r>
              <a:rPr lang="en-US" altLang="en-US" sz="2400"/>
              <a:t>.</a:t>
            </a:r>
            <a:endParaRPr lang="en-US" altLang="en-US" sz="2400"/>
          </a:p>
          <a:p>
            <a:r>
              <a:rPr lang="en-US" altLang="en-US" sz="2400" b="1"/>
              <a:t>● Structural Modeling</a:t>
            </a:r>
            <a:r>
              <a:rPr lang="en-US" altLang="en-US" sz="2400"/>
              <a:t>: FAARFIELD 2.0 was used to calculate a Cumulative Damage Factor (CDF), ensuring the structure withstands a 20-year traffic mix.</a:t>
            </a:r>
            <a:endParaRPr lang="en-US" altLang="en-US" sz="2400"/>
          </a:p>
          <a:p>
            <a:r>
              <a:rPr lang="en-US" altLang="en-US" sz="2400"/>
              <a:t>●</a:t>
            </a:r>
            <a:r>
              <a:rPr lang="en-US" altLang="en-US" sz="2400" b="1"/>
              <a:t> Pavement Metrics</a:t>
            </a:r>
            <a:r>
              <a:rPr lang="en-US" altLang="en-US" sz="2400"/>
              <a:t>: Determined a required �exible pavement thickness of 27.0 inches</a:t>
            </a:r>
            <a:endParaRPr lang="en-US" altLang="en-US" sz="2400"/>
          </a:p>
          <a:p>
            <a:r>
              <a:rPr lang="en-US" altLang="en-US" sz="2400"/>
              <a:t>(68 cm) to support a taxi weight of 174,700 lbs.</a:t>
            </a:r>
            <a:endParaRPr lang="en-US" altLang="en-US" sz="2400"/>
          </a:p>
        </p:txBody>
      </p:sp>
      <p:sp>
        <p:nvSpPr>
          <p:cNvPr id="7" name="Text Box 6"/>
          <p:cNvSpPr txBox="1"/>
          <p:nvPr/>
        </p:nvSpPr>
        <p:spPr>
          <a:xfrm>
            <a:off x="24206200" y="6497320"/>
            <a:ext cx="18580735" cy="3933825"/>
          </a:xfrm>
          <a:prstGeom prst="rect">
            <a:avLst/>
          </a:prstGeom>
          <a:noFill/>
        </p:spPr>
        <p:txBody>
          <a:bodyPr wrap="square" rtlCol="0">
            <a:noAutofit/>
          </a:bodyPr>
          <a:p>
            <a:endParaRPr lang="en-US"/>
          </a:p>
        </p:txBody>
      </p:sp>
      <p:pic>
        <p:nvPicPr>
          <p:cNvPr id="8" name="Picture 7"/>
          <p:cNvPicPr/>
          <p:nvPr/>
        </p:nvPicPr>
        <p:blipFill>
          <a:blip r:embed="rId5"/>
          <a:stretch>
            <a:fillRect/>
          </a:stretch>
        </p:blipFill>
        <p:spPr>
          <a:xfrm>
            <a:off x="23764875" y="5244465"/>
            <a:ext cx="5545455" cy="6029960"/>
          </a:xfrm>
          <a:prstGeom prst="rect">
            <a:avLst/>
          </a:prstGeom>
        </p:spPr>
      </p:pic>
      <p:pic>
        <p:nvPicPr>
          <p:cNvPr id="9" name="Picture 8"/>
          <p:cNvPicPr/>
          <p:nvPr/>
        </p:nvPicPr>
        <p:blipFill>
          <a:blip r:embed="rId6"/>
          <a:stretch>
            <a:fillRect/>
          </a:stretch>
        </p:blipFill>
        <p:spPr>
          <a:xfrm>
            <a:off x="29445585" y="5612130"/>
            <a:ext cx="5767070" cy="4203700"/>
          </a:xfrm>
          <a:prstGeom prst="rect">
            <a:avLst/>
          </a:prstGeom>
        </p:spPr>
      </p:pic>
      <p:pic>
        <p:nvPicPr>
          <p:cNvPr id="10" name="Picture 9"/>
          <p:cNvPicPr/>
          <p:nvPr/>
        </p:nvPicPr>
        <p:blipFill>
          <a:blip r:embed="rId7"/>
          <a:stretch>
            <a:fillRect/>
          </a:stretch>
        </p:blipFill>
        <p:spPr>
          <a:xfrm>
            <a:off x="24244300" y="12769850"/>
            <a:ext cx="4622800" cy="3749040"/>
          </a:xfrm>
          <a:prstGeom prst="rect">
            <a:avLst/>
          </a:prstGeom>
        </p:spPr>
      </p:pic>
      <p:sp>
        <p:nvSpPr>
          <p:cNvPr id="11" name="Text Box 10"/>
          <p:cNvSpPr txBox="1"/>
          <p:nvPr/>
        </p:nvSpPr>
        <p:spPr>
          <a:xfrm>
            <a:off x="30015180" y="10287635"/>
            <a:ext cx="5198110" cy="583565"/>
          </a:xfrm>
          <a:prstGeom prst="rect">
            <a:avLst/>
          </a:prstGeom>
          <a:noFill/>
        </p:spPr>
        <p:txBody>
          <a:bodyPr wrap="square" rtlCol="0">
            <a:spAutoFit/>
          </a:bodyPr>
          <a:p>
            <a:r>
              <a:rPr lang="en-US" sz="3200"/>
              <a:t>wind rose diagram</a:t>
            </a:r>
            <a:endParaRPr lang="en-US" sz="3200"/>
          </a:p>
        </p:txBody>
      </p:sp>
      <p:sp>
        <p:nvSpPr>
          <p:cNvPr id="12" name="Text Box 11"/>
          <p:cNvSpPr txBox="1"/>
          <p:nvPr/>
        </p:nvSpPr>
        <p:spPr>
          <a:xfrm>
            <a:off x="24536400" y="17303115"/>
            <a:ext cx="4602480" cy="583565"/>
          </a:xfrm>
          <a:prstGeom prst="rect">
            <a:avLst/>
          </a:prstGeom>
          <a:noFill/>
        </p:spPr>
        <p:txBody>
          <a:bodyPr wrap="square" rtlCol="0">
            <a:spAutoFit/>
          </a:bodyPr>
          <a:p>
            <a:r>
              <a:rPr lang="en-US" sz="3200"/>
              <a:t>FAARFIELD CDF Graph</a:t>
            </a:r>
            <a:endParaRPr lang="en-US" sz="3200"/>
          </a:p>
        </p:txBody>
      </p:sp>
      <p:sp>
        <p:nvSpPr>
          <p:cNvPr id="13" name="Text Box 12"/>
          <p:cNvSpPr txBox="1"/>
          <p:nvPr/>
        </p:nvSpPr>
        <p:spPr>
          <a:xfrm>
            <a:off x="24243665" y="11148060"/>
            <a:ext cx="9119235" cy="946150"/>
          </a:xfrm>
          <a:prstGeom prst="rect">
            <a:avLst/>
          </a:prstGeom>
          <a:noFill/>
        </p:spPr>
        <p:txBody>
          <a:bodyPr wrap="square" rtlCol="0">
            <a:noAutofit/>
          </a:bodyPr>
          <a:p>
            <a:r>
              <a:rPr lang="en-US" altLang="en-US" sz="3200"/>
              <a:t>F.A.R. Takeoff Runway Length Requirements - Standard Day + 45°F (STD + 25°C), Dry Runway</a:t>
            </a:r>
            <a:endParaRPr lang="en-US" sz="3200"/>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3762375" rtl="0" eaLnBrk="0" fontAlgn="base" latinLnBrk="0" hangingPunct="0">
          <a:lnSpc>
            <a:spcPct val="100000"/>
          </a:lnSpc>
          <a:spcBef>
            <a:spcPct val="0"/>
          </a:spcBef>
          <a:spcAft>
            <a:spcPct val="0"/>
          </a:spcAft>
          <a:buClrTx/>
          <a:buSzTx/>
          <a:buFontTx/>
          <a:buNone/>
          <a:defRPr kumimoji="0" lang="en-US" altLang="en-US" sz="99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3762375" rtl="0" eaLnBrk="0" fontAlgn="base" latinLnBrk="0" hangingPunct="0">
          <a:lnSpc>
            <a:spcPct val="100000"/>
          </a:lnSpc>
          <a:spcBef>
            <a:spcPct val="0"/>
          </a:spcBef>
          <a:spcAft>
            <a:spcPct val="0"/>
          </a:spcAft>
          <a:buClrTx/>
          <a:buSzTx/>
          <a:buFontTx/>
          <a:buNone/>
          <a:defRPr kumimoji="0" lang="en-US" altLang="en-US" sz="99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4138</Words>
  <Application>WPS Presentation</Application>
  <PresentationFormat>Custom</PresentationFormat>
  <Paragraphs>55</Paragraphs>
  <Slides>1</Slides>
  <Notes>1</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1</vt:i4>
      </vt:variant>
    </vt:vector>
  </HeadingPairs>
  <TitlesOfParts>
    <vt:vector size="10" baseType="lpstr">
      <vt:lpstr>Arial</vt:lpstr>
      <vt:lpstr>SimSun</vt:lpstr>
      <vt:lpstr>Wingdings</vt:lpstr>
      <vt:lpstr>Times New Roman</vt:lpstr>
      <vt:lpstr>Microsoft YaHei</vt:lpstr>
      <vt:lpstr>Arial Unicode MS</vt:lpstr>
      <vt:lpstr>等线</vt:lpstr>
      <vt:lpstr>Default Design</vt:lpstr>
      <vt:lpstr>Equation.3</vt:lpstr>
      <vt:lpstr>PowerPoint 演示文稿</vt:lpstr>
    </vt:vector>
  </TitlesOfParts>
  <Company>Purdue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Computing Center</dc:creator>
  <cp:lastModifiedBy>Tanush Karkade</cp:lastModifiedBy>
  <cp:revision>314</cp:revision>
  <cp:lastPrinted>2000-07-12T04:33:00Z</cp:lastPrinted>
  <dcterms:created xsi:type="dcterms:W3CDTF">2000-02-06T19:06:00Z</dcterms:created>
  <dcterms:modified xsi:type="dcterms:W3CDTF">2026-03-22T14:31:57Z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1033-12.1.0.25830</vt:lpwstr>
  </property>
  <property fmtid="{D5CDD505-2E9C-101B-9397-08002B2CF9AE}" pid="3" name="ICV">
    <vt:lpwstr>6D55B6B1C9A3435FA5687B36F9CADC72_13</vt:lpwstr>
  </property>
</Properties>
</file>