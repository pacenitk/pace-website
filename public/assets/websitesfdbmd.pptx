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6576000" cy="29260800"/>
  <p:notesSz cx="6994525" cy="92805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9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21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40C049"/>
    <a:srgbClr val="FF0000"/>
    <a:srgbClr val="00CCFF"/>
    <a:srgbClr val="FFCC99"/>
    <a:srgbClr val="CCECFF"/>
    <a:srgbClr val="FF6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8486" autoAdjust="0"/>
    <p:restoredTop sz="91854" autoAdjust="0"/>
  </p:normalViewPr>
  <p:slideViewPr>
    <p:cSldViewPr snapToGrid="0">
      <p:cViewPr>
        <p:scale>
          <a:sx n="33" d="100"/>
          <a:sy n="33" d="100"/>
        </p:scale>
        <p:origin x="485" y="-528"/>
      </p:cViewPr>
      <p:guideLst>
        <p:guide orient="horz" pos="9421"/>
        <p:guide pos="115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B744BE-EF4D-08F5-25F0-BE850F75BE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1D41DEF-6184-1CF2-5536-7C226D9F56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DCA15CA-2ABD-B3A5-78F8-D3A56EE671E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7613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FC7DB90-A982-81C3-2A33-F09170105D6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37613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FB68BFB-E5F6-4CA4-AA21-25CCC6E52C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AB03707-0524-0333-CE81-1543B05496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defTabSz="917575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84DBB77-5228-A540-D1E7-0A427AB386F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4165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DBD6B15-84CA-258A-D890-9968F09F0C2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46200" y="692150"/>
            <a:ext cx="4305300" cy="34448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B565E246-37E3-AE92-D890-D9C45483BD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45000"/>
            <a:ext cx="5173662" cy="4140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A354A30A-2198-BAB3-01A2-5E32D599067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5388"/>
            <a:ext cx="3043238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defTabSz="917575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84A37E4F-3961-891B-EF4E-85956B7E11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5388"/>
            <a:ext cx="304165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D353551-C13F-48CF-8E17-61A2A6BC2A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D6E81C27-E57B-FEA4-E61C-9856A52175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7575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7575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7575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7575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7575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D0F44B-CC71-4E6E-A7F0-9D009E11B7C4}" type="slidenum">
              <a:rPr lang="zh-CN" altLang="en-US" sz="1200" smtClean="0"/>
              <a:pPr/>
              <a:t>1</a:t>
            </a:fld>
            <a:endParaRPr lang="zh-CN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D4B6893B-DE68-8EA9-6038-FD7B9EB43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399211-A7A9-52AC-5F2C-1B3D5D836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4789488"/>
            <a:ext cx="27432000" cy="101869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5368588"/>
            <a:ext cx="27432000" cy="70643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AE9FC6-58B0-3745-25E8-A9B0BB5B86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8BE37E-93A4-1A9A-1ECD-EC775A4E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C430DE-0BBB-F5D3-2CC0-0C1C8787FA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4D12F-F900-44FB-BECC-A5E82D226D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47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457B48-50E3-91BB-74DA-396EE15953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11355C-F67C-E18E-22A1-B6962B6F0F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EE56BC-C34B-236A-F0A7-8A342A9561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002EF-35D7-4FE1-8192-A1FDF6E607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98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7294563"/>
            <a:ext cx="31546800" cy="121713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19581813"/>
            <a:ext cx="31546800" cy="64008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057DB7-02BB-7102-86CF-47A0E54439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DCBEE7-F554-6C3C-616E-4018ECCF88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6508EE-EECF-D82B-879A-9EB3DBA1CB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FF01DF-2DC6-4F51-9280-F83174BB91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46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9550" y="8453438"/>
            <a:ext cx="15465425" cy="17556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67375" y="8453438"/>
            <a:ext cx="15465425" cy="17556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5DF18-2D5D-15E2-6429-180209ECA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A1A4A0-5F3D-79B7-8AE8-BD3658FA81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D5DBF0-9046-6158-3DB9-00CDC511FC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E94C5E-3D37-4F7C-AB7C-332473EDE1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53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3" y="1557338"/>
            <a:ext cx="31546800" cy="5656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3" y="7172325"/>
            <a:ext cx="15473362" cy="35163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3" y="10688638"/>
            <a:ext cx="15473362" cy="15721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7172325"/>
            <a:ext cx="15549563" cy="35163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10688638"/>
            <a:ext cx="15549563" cy="15721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FADE14-1F96-DDAD-8B52-13D29983D3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588F2DF-08A3-EEBE-5D95-A835757443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61CFBDA-C50C-9E55-687F-BBC0A6286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8D837-28C1-4333-A6A5-AD8A5EDF11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61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5ADFC04-B734-46EE-2432-9AF723C8C5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2F684DC-138E-2555-2307-2085BCBD6D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0804E6-9A71-9AB4-7B12-D46AA9369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6A4C8-CA4D-49F8-8EBB-80F75D2674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44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246F70-89DB-D74D-BCE0-1C69433886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13F36D-2C76-E674-E96C-293D4C7B7F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ECADC50-64F8-C217-948C-0DDE1A27F6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FC3C4-C704-40B0-B758-5DE09C3ED2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73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3" y="1951038"/>
            <a:ext cx="11796712" cy="68278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3" y="4213225"/>
            <a:ext cx="18516600" cy="20794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3" y="8778875"/>
            <a:ext cx="11796712" cy="162623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07B0C0-946B-F918-C6DB-8337D0F6CE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AD868-D416-2C89-A12F-D55BF1A3AD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A1CDB-DA16-3AA1-5F74-CB7F8F2978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8F528-F560-4724-9C74-4FF4C8B41C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35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3" y="1951038"/>
            <a:ext cx="11796712" cy="68278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49563" y="4213225"/>
            <a:ext cx="18516600" cy="20794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3" y="8778875"/>
            <a:ext cx="11796712" cy="162623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C910CB-A8BA-BDDC-E663-A9759F22CC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17686B-17FA-2F0B-84FB-3BE8E184E7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01D50-9B25-B64F-A5D1-FCB3EF989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2D5BC0-309B-42EF-91D6-1D46809861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67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E90035-EDF2-1AA7-2BFA-A0F508C09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A4F36E-1313-E1E9-98BC-1B88B7C6AB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A58CAE-A4D6-7717-2A44-DCCC46FD67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76D04-4D46-4381-8472-694DFE35FC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92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061988" y="2600325"/>
            <a:ext cx="7770812" cy="23409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49550" y="2600325"/>
            <a:ext cx="23160038" cy="23409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8A219-D450-4EA7-AA58-A7BFC52AA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216982-FBFD-3F66-D131-D4FAD615C6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B38D35-7635-28E0-6D13-BB9DDC8E44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3CEB0-BE2C-4AD7-8467-37A30FF105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17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268F383-176D-C69A-525B-FE6EF58D9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49550" y="2600325"/>
            <a:ext cx="3108325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8815" tIns="189410" rIns="378815" bIns="1894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EB0B5A-C6E5-58EE-EC5E-6B33CB962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9550" y="8453438"/>
            <a:ext cx="31083250" cy="1755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8815" tIns="189410" rIns="378815" bIns="1894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3E3870-449F-74D1-EFA7-0F20C37BD79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749550" y="26660475"/>
            <a:ext cx="7620000" cy="1949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78815" tIns="189410" rIns="378815" bIns="189410" numCol="1" anchor="t" anchorCtr="0" compatLnSpc="1">
            <a:prstTxWarp prst="textNoShape">
              <a:avLst/>
            </a:prstTxWarp>
          </a:bodyPr>
          <a:lstStyle>
            <a:lvl1pPr defTabSz="3762375">
              <a:defRPr sz="58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D9F1CF-5112-DABD-249C-C740FF0C73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496800" y="26660475"/>
            <a:ext cx="11588750" cy="1949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78815" tIns="189410" rIns="378815" bIns="189410" numCol="1" anchor="t" anchorCtr="0" compatLnSpc="1">
            <a:prstTxWarp prst="textNoShape">
              <a:avLst/>
            </a:prstTxWarp>
          </a:bodyPr>
          <a:lstStyle>
            <a:lvl1pPr algn="ctr" defTabSz="3762375">
              <a:defRPr sz="58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ED83DC-C0F2-3266-B5FF-35A2241847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6212800" y="26660475"/>
            <a:ext cx="7620000" cy="1949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78815" tIns="189410" rIns="378815" bIns="189410" numCol="1" anchor="t" anchorCtr="0" compatLnSpc="1">
            <a:prstTxWarp prst="textNoShape">
              <a:avLst/>
            </a:prstTxWarp>
          </a:bodyPr>
          <a:lstStyle>
            <a:lvl1pPr algn="r" defTabSz="3762375">
              <a:defRPr sz="58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9F85A0D-3D1E-42C8-A714-902C3E86C3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62375" rtl="0" eaLnBrk="0" fontAlgn="base" hangingPunct="0">
        <a:spcBef>
          <a:spcPct val="0"/>
        </a:spcBef>
        <a:spcAft>
          <a:spcPct val="0"/>
        </a:spcAft>
        <a:defRPr sz="185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2pPr>
      <a:lvl3pPr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3pPr>
      <a:lvl4pPr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4pPr>
      <a:lvl5pPr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3762375" rtl="0" eaLnBrk="0" fontAlgn="base" hangingPunct="0">
        <a:spcBef>
          <a:spcPct val="0"/>
        </a:spcBef>
        <a:spcAft>
          <a:spcPct val="0"/>
        </a:spcAft>
        <a:defRPr sz="185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411288" indent="-1411288" algn="l" defTabSz="3762375" rtl="0" eaLnBrk="0" fontAlgn="base" hangingPunct="0">
        <a:spcBef>
          <a:spcPct val="20000"/>
        </a:spcBef>
        <a:spcAft>
          <a:spcPct val="0"/>
        </a:spcAft>
        <a:buChar char="•"/>
        <a:defRPr sz="12800" kern="1200">
          <a:solidFill>
            <a:schemeClr val="tx1"/>
          </a:solidFill>
          <a:latin typeface="+mn-lt"/>
          <a:ea typeface="+mn-ea"/>
          <a:cs typeface="+mn-cs"/>
        </a:defRPr>
      </a:lvl1pPr>
      <a:lvl2pPr marL="3063875" indent="-1182688" algn="l" defTabSz="3762375" rtl="0" eaLnBrk="0" fontAlgn="base" hangingPunct="0">
        <a:spcBef>
          <a:spcPct val="20000"/>
        </a:spcBef>
        <a:spcAft>
          <a:spcPct val="0"/>
        </a:spcAft>
        <a:buChar char="–"/>
        <a:defRPr sz="11100" kern="1200">
          <a:solidFill>
            <a:schemeClr val="tx1"/>
          </a:solidFill>
          <a:latin typeface="+mn-lt"/>
          <a:ea typeface="+mn-ea"/>
          <a:cs typeface="+mn-cs"/>
        </a:defRPr>
      </a:lvl2pPr>
      <a:lvl3pPr marL="4695825" indent="-93345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3pPr>
      <a:lvl4pPr marL="6577013" indent="-939800" algn="l" defTabSz="3762375" rtl="0" eaLnBrk="0" fontAlgn="base" hangingPunct="0">
        <a:spcBef>
          <a:spcPct val="20000"/>
        </a:spcBef>
        <a:spcAft>
          <a:spcPct val="0"/>
        </a:spcAft>
        <a:buChar char="–"/>
        <a:defRPr sz="7800" kern="1200">
          <a:solidFill>
            <a:schemeClr val="tx1"/>
          </a:solidFill>
          <a:latin typeface="+mn-lt"/>
          <a:ea typeface="+mn-ea"/>
          <a:cs typeface="+mn-cs"/>
        </a:defRPr>
      </a:lvl4pPr>
      <a:lvl5pPr marL="8458200" indent="-941388" algn="l" defTabSz="3762375" rtl="0" eaLnBrk="0" fontAlgn="base" hangingPunct="0">
        <a:spcBef>
          <a:spcPct val="20000"/>
        </a:spcBef>
        <a:spcAft>
          <a:spcPct val="0"/>
        </a:spcAft>
        <a:buChar char="»"/>
        <a:defRPr sz="7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3" name="Rectangle 507">
            <a:extLst>
              <a:ext uri="{FF2B5EF4-FFF2-40B4-BE49-F238E27FC236}">
                <a16:creationId xmlns:a16="http://schemas.microsoft.com/office/drawing/2014/main" id="{C1549CB2-E401-3C05-607E-E54ECFC12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4" y="20090606"/>
            <a:ext cx="6537325" cy="103188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rgbClr val="FFFF00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4598" name="Rectangle 502">
            <a:extLst>
              <a:ext uri="{FF2B5EF4-FFF2-40B4-BE49-F238E27FC236}">
                <a16:creationId xmlns:a16="http://schemas.microsoft.com/office/drawing/2014/main" id="{7B4B6940-7C25-D710-98D2-3BB5C2E10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12571563"/>
            <a:ext cx="6538912" cy="103188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rgbClr val="FFFF00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4597" name="Rectangle 501">
            <a:extLst>
              <a:ext uri="{FF2B5EF4-FFF2-40B4-BE49-F238E27FC236}">
                <a16:creationId xmlns:a16="http://schemas.microsoft.com/office/drawing/2014/main" id="{A901881E-5CAC-210B-8274-0485FE829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338" y="5226050"/>
            <a:ext cx="6538912" cy="103188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rgbClr val="FFFF00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900E0109-BB42-DF83-0FCF-A1404954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623888"/>
            <a:ext cx="35420300" cy="27689175"/>
          </a:xfrm>
          <a:prstGeom prst="rect">
            <a:avLst/>
          </a:prstGeom>
          <a:noFill/>
          <a:ln w="635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2" name="Line 5">
            <a:extLst>
              <a:ext uri="{FF2B5EF4-FFF2-40B4-BE49-F238E27FC236}">
                <a16:creationId xmlns:a16="http://schemas.microsoft.com/office/drawing/2014/main" id="{2E70D25C-2DEA-00E7-6EE9-5755C49AA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" y="4551363"/>
            <a:ext cx="353695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" name="Rectangle 156">
            <a:extLst>
              <a:ext uri="{FF2B5EF4-FFF2-40B4-BE49-F238E27FC236}">
                <a16:creationId xmlns:a16="http://schemas.microsoft.com/office/drawing/2014/main" id="{F1385F08-AAFC-FA74-2E84-5B2E7F9D1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657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pic>
        <p:nvPicPr>
          <p:cNvPr id="4105" name="Picture 173">
            <a:extLst>
              <a:ext uri="{FF2B5EF4-FFF2-40B4-BE49-F238E27FC236}">
                <a16:creationId xmlns:a16="http://schemas.microsoft.com/office/drawing/2014/main" id="{9546D85C-2FE8-87C2-F98B-22448598F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4192" y="1257300"/>
            <a:ext cx="2874963" cy="271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6" name="Text Box 178">
            <a:extLst>
              <a:ext uri="{FF2B5EF4-FFF2-40B4-BE49-F238E27FC236}">
                <a16:creationId xmlns:a16="http://schemas.microsoft.com/office/drawing/2014/main" id="{35252821-C0A5-6EBC-E03F-B6E8A0F48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276" y="1339362"/>
            <a:ext cx="2683198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6000" b="1" dirty="0">
                <a:ea typeface="宋体" panose="02010600030101010101" pitchFamily="2" charset="-122"/>
              </a:rPr>
              <a:t>Website for Generating SFD and BMD for Statically Determinate Structures </a:t>
            </a:r>
          </a:p>
        </p:txBody>
      </p:sp>
      <p:sp>
        <p:nvSpPr>
          <p:cNvPr id="4107" name="Text Box 227">
            <a:extLst>
              <a:ext uri="{FF2B5EF4-FFF2-40B4-BE49-F238E27FC236}">
                <a16:creationId xmlns:a16="http://schemas.microsoft.com/office/drawing/2014/main" id="{A0F7BEB7-7A4C-C477-6043-0EEB3BA1D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4792663"/>
            <a:ext cx="3505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4800" b="1">
                <a:ea typeface="宋体" panose="02010600030101010101" pitchFamily="2" charset="-122"/>
              </a:rPr>
              <a:t>Introduction</a:t>
            </a:r>
          </a:p>
        </p:txBody>
      </p:sp>
      <p:sp>
        <p:nvSpPr>
          <p:cNvPr id="4108" name="Text Box 228">
            <a:extLst>
              <a:ext uri="{FF2B5EF4-FFF2-40B4-BE49-F238E27FC236}">
                <a16:creationId xmlns:a16="http://schemas.microsoft.com/office/drawing/2014/main" id="{21B6296F-87C0-7681-9B32-7BBEBF3AF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5012" y="19645863"/>
            <a:ext cx="52959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4800" b="1" dirty="0">
                <a:ea typeface="宋体" panose="02010600030101010101" pitchFamily="2" charset="-122"/>
              </a:rPr>
              <a:t>Numerical Analysis</a:t>
            </a:r>
          </a:p>
        </p:txBody>
      </p:sp>
      <p:sp>
        <p:nvSpPr>
          <p:cNvPr id="4109" name="Line 229">
            <a:extLst>
              <a:ext uri="{FF2B5EF4-FFF2-40B4-BE49-F238E27FC236}">
                <a16:creationId xmlns:a16="http://schemas.microsoft.com/office/drawing/2014/main" id="{42CCCE5B-EC0E-54A2-666D-40C89B660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04638" y="5219700"/>
            <a:ext cx="0" cy="21731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0" name="Line 231">
            <a:extLst>
              <a:ext uri="{FF2B5EF4-FFF2-40B4-BE49-F238E27FC236}">
                <a16:creationId xmlns:a16="http://schemas.microsoft.com/office/drawing/2014/main" id="{8ED6BEB1-5AC6-C745-04EB-F48151EE2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96613" y="5275263"/>
            <a:ext cx="0" cy="21731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111" name="Group 553">
            <a:extLst>
              <a:ext uri="{FF2B5EF4-FFF2-40B4-BE49-F238E27FC236}">
                <a16:creationId xmlns:a16="http://schemas.microsoft.com/office/drawing/2014/main" id="{695FC491-C376-F1E3-8FB7-CE90D9184864}"/>
              </a:ext>
            </a:extLst>
          </p:cNvPr>
          <p:cNvGrpSpPr>
            <a:grpSpLocks/>
          </p:cNvGrpSpPr>
          <p:nvPr/>
        </p:nvGrpSpPr>
        <p:grpSpPr bwMode="auto">
          <a:xfrm>
            <a:off x="26483492" y="11947459"/>
            <a:ext cx="6538912" cy="823912"/>
            <a:chOff x="17577" y="12279"/>
            <a:chExt cx="4119" cy="519"/>
          </a:xfrm>
        </p:grpSpPr>
        <p:sp>
          <p:nvSpPr>
            <p:cNvPr id="4648" name="Rectangle 552">
              <a:extLst>
                <a:ext uri="{FF2B5EF4-FFF2-40B4-BE49-F238E27FC236}">
                  <a16:creationId xmlns:a16="http://schemas.microsoft.com/office/drawing/2014/main" id="{E514C848-813B-1BA2-B487-48D053C03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7" y="12546"/>
              <a:ext cx="4119" cy="65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50000">
                  <a:srgbClr val="FFFF00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4181" name="Text Box 233">
              <a:extLst>
                <a:ext uri="{FF2B5EF4-FFF2-40B4-BE49-F238E27FC236}">
                  <a16:creationId xmlns:a16="http://schemas.microsoft.com/office/drawing/2014/main" id="{605E9DD4-AC0D-0626-059E-090220881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0" y="12279"/>
              <a:ext cx="2101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9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4800" b="1" dirty="0">
                  <a:ea typeface="宋体" panose="02010600030101010101" pitchFamily="2" charset="-122"/>
                </a:rPr>
                <a:t>Conclusions</a:t>
              </a:r>
            </a:p>
          </p:txBody>
        </p:sp>
      </p:grpSp>
      <p:sp>
        <p:nvSpPr>
          <p:cNvPr id="4112" name="Text Box 245">
            <a:extLst>
              <a:ext uri="{FF2B5EF4-FFF2-40B4-BE49-F238E27FC236}">
                <a16:creationId xmlns:a16="http://schemas.microsoft.com/office/drawing/2014/main" id="{B2719523-EF01-36E1-1FB6-082AAF777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5738812"/>
            <a:ext cx="10890251" cy="637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800" dirty="0"/>
              <a:t>1)Shear Force Diagram (SFD) and Bending Moment Diagram (BMD) are essential tools in structural analysis. </a:t>
            </a:r>
          </a:p>
          <a:p>
            <a:r>
              <a:rPr lang="en-US" sz="3800" dirty="0"/>
              <a:t>2)They help in understanding internal force variation in beams. </a:t>
            </a:r>
          </a:p>
          <a:p>
            <a:r>
              <a:rPr lang="en-US" sz="3800" dirty="0"/>
              <a:t>3)Manual calculations are often time-consuming and prone to errors. </a:t>
            </a:r>
          </a:p>
          <a:p>
            <a:r>
              <a:rPr lang="en-US" sz="3800" dirty="0"/>
              <a:t>4)This project aims to develop a </a:t>
            </a:r>
            <a:r>
              <a:rPr lang="en-US" sz="3800" b="1" dirty="0"/>
              <a:t>website</a:t>
            </a:r>
            <a:r>
              <a:rPr lang="en-US" sz="3800" dirty="0"/>
              <a:t> to automate SFD and BMD generation. </a:t>
            </a:r>
          </a:p>
          <a:p>
            <a:r>
              <a:rPr lang="en-US" sz="3800" dirty="0"/>
              <a:t>5)The tool enhances visualization and conceptual understanding for students</a:t>
            </a:r>
            <a:r>
              <a:rPr lang="en-US" sz="3600" dirty="0"/>
              <a:t>.</a:t>
            </a:r>
          </a:p>
        </p:txBody>
      </p:sp>
      <p:sp>
        <p:nvSpPr>
          <p:cNvPr id="4114" name="Text Box 247">
            <a:extLst>
              <a:ext uri="{FF2B5EF4-FFF2-40B4-BE49-F238E27FC236}">
                <a16:creationId xmlns:a16="http://schemas.microsoft.com/office/drawing/2014/main" id="{4DD1134D-DB8F-279A-C058-5AC1D9A20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5" y="12168338"/>
            <a:ext cx="17653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4800" b="1">
                <a:ea typeface="宋体" panose="02010600030101010101" pitchFamily="2" charset="-122"/>
              </a:rPr>
              <a:t>Scope</a:t>
            </a:r>
          </a:p>
        </p:txBody>
      </p:sp>
      <p:sp>
        <p:nvSpPr>
          <p:cNvPr id="4115" name="Text Box 620">
            <a:extLst>
              <a:ext uri="{FF2B5EF4-FFF2-40B4-BE49-F238E27FC236}">
                <a16:creationId xmlns:a16="http://schemas.microsoft.com/office/drawing/2014/main" id="{FBF028ED-24F7-0232-DBBD-790A78D1A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51088" y="2351405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4118" name="Text Box 625">
            <a:extLst>
              <a:ext uri="{FF2B5EF4-FFF2-40B4-BE49-F238E27FC236}">
                <a16:creationId xmlns:a16="http://schemas.microsoft.com/office/drawing/2014/main" id="{7ACCEC46-A905-8336-E820-0B927CA60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20997863"/>
            <a:ext cx="10706100" cy="628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endParaRPr lang="en-US" altLang="en-US" sz="2000" dirty="0"/>
          </a:p>
        </p:txBody>
      </p:sp>
      <p:graphicFrame>
        <p:nvGraphicFramePr>
          <p:cNvPr id="4120" name="Object 629">
            <a:extLst>
              <a:ext uri="{FF2B5EF4-FFF2-40B4-BE49-F238E27FC236}">
                <a16:creationId xmlns:a16="http://schemas.microsoft.com/office/drawing/2014/main" id="{73F43B77-799E-986C-BC12-EF719EB7F5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95963" y="20142200"/>
          <a:ext cx="1651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5" imgH="164885" progId="Equation.3">
                  <p:embed/>
                </p:oleObj>
              </mc:Choice>
              <mc:Fallback>
                <p:oleObj name="Equation" r:id="rId4" imgW="164885" imgH="164885" progId="Equation.3">
                  <p:embed/>
                  <p:pic>
                    <p:nvPicPr>
                      <p:cNvPr id="0" name="Object 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5963" y="20142200"/>
                        <a:ext cx="1651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1" name="Rectangle 632">
            <a:extLst>
              <a:ext uri="{FF2B5EF4-FFF2-40B4-BE49-F238E27FC236}">
                <a16:creationId xmlns:a16="http://schemas.microsoft.com/office/drawing/2014/main" id="{FDCD8114-D4DF-D994-97B0-4864DDFAC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54650" y="14516100"/>
            <a:ext cx="3657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731" name="Rectangle 635">
            <a:extLst>
              <a:ext uri="{FF2B5EF4-FFF2-40B4-BE49-F238E27FC236}">
                <a16:creationId xmlns:a16="http://schemas.microsoft.com/office/drawing/2014/main" id="{AFD7FA93-19A5-7B01-F872-B40100CF7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8267" y="19623918"/>
            <a:ext cx="6538912" cy="10318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50000">
                <a:srgbClr val="FFFF00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4123" name="Text Box 636">
            <a:extLst>
              <a:ext uri="{FF2B5EF4-FFF2-40B4-BE49-F238E27FC236}">
                <a16:creationId xmlns:a16="http://schemas.microsoft.com/office/drawing/2014/main" id="{8DB7E679-E990-AD82-4FB6-07897FC25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5032" y="19216049"/>
            <a:ext cx="6111875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4800" b="1" dirty="0">
                <a:ea typeface="宋体" panose="02010600030101010101" pitchFamily="2" charset="-122"/>
              </a:rPr>
              <a:t>Results and Discussion</a:t>
            </a:r>
          </a:p>
        </p:txBody>
      </p:sp>
      <p:sp>
        <p:nvSpPr>
          <p:cNvPr id="4124" name="Rectangle 732">
            <a:extLst>
              <a:ext uri="{FF2B5EF4-FFF2-40B4-BE49-F238E27FC236}">
                <a16:creationId xmlns:a16="http://schemas.microsoft.com/office/drawing/2014/main" id="{D559D857-601F-AB6D-858B-5FCB9361F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725" y="14387513"/>
            <a:ext cx="3657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25" name="Rectangle 734">
            <a:extLst>
              <a:ext uri="{FF2B5EF4-FFF2-40B4-BE49-F238E27FC236}">
                <a16:creationId xmlns:a16="http://schemas.microsoft.com/office/drawing/2014/main" id="{E30CE68C-EE1A-198D-485F-46EB321F2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725" y="14387513"/>
            <a:ext cx="3657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26" name="Text Box 737">
            <a:extLst>
              <a:ext uri="{FF2B5EF4-FFF2-40B4-BE49-F238E27FC236}">
                <a16:creationId xmlns:a16="http://schemas.microsoft.com/office/drawing/2014/main" id="{ECB7E4A9-F105-0646-4AD1-F6F44F2B2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2392" y="20766965"/>
            <a:ext cx="11710987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800" dirty="0"/>
              <a:t>1)The website successfully generates accurate SFD and BMD diagrams. </a:t>
            </a:r>
          </a:p>
          <a:p>
            <a:r>
              <a:rPr lang="en-US" sz="3800" dirty="0"/>
              <a:t>2)Results are consistent with manual calculations. </a:t>
            </a:r>
          </a:p>
          <a:p>
            <a:r>
              <a:rPr lang="en-US" sz="3800" dirty="0"/>
              <a:t>3)The interface is simple, fast, and efficient. </a:t>
            </a:r>
          </a:p>
          <a:p>
            <a:r>
              <a:rPr lang="en-US" sz="3800" dirty="0"/>
              <a:t>4)Helps in quick analysis and better understanding of structural behavior. </a:t>
            </a:r>
          </a:p>
          <a:p>
            <a:r>
              <a:rPr lang="en-US" sz="3800" dirty="0"/>
              <a:t>5)Website can be extended for advanced structural analysis applications, if required. </a:t>
            </a:r>
          </a:p>
          <a:p>
            <a:pPr algn="just">
              <a:spcBef>
                <a:spcPct val="50000"/>
              </a:spcBef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130" name="Text Box 743">
            <a:extLst>
              <a:ext uri="{FF2B5EF4-FFF2-40B4-BE49-F238E27FC236}">
                <a16:creationId xmlns:a16="http://schemas.microsoft.com/office/drawing/2014/main" id="{9D6F8203-0881-65A3-787E-21675B0B4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969" y="2267646"/>
            <a:ext cx="2617406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tabLst>
                <a:tab pos="2637155" algn="ctr"/>
                <a:tab pos="5274310" algn="r"/>
              </a:tabLst>
            </a:pPr>
            <a:r>
              <a:rPr lang="en-US" sz="4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Professional Association For Civil Engineering, </a:t>
            </a:r>
            <a:r>
              <a:rPr kumimoji="0" lang="en-US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NITK </a:t>
            </a:r>
            <a:r>
              <a:rPr lang="en-IN" altLang="en-US" sz="4800" dirty="0">
                <a:solidFill>
                  <a:srgbClr val="000000"/>
                </a:solidFill>
              </a:rPr>
              <a:t>Surathkal</a:t>
            </a:r>
            <a:endParaRPr lang="en-US" altLang="en-US" sz="4800" dirty="0">
              <a:solidFill>
                <a:srgbClr val="474747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IN" altLang="en-US" sz="4800" b="1" dirty="0"/>
              <a:t>Mentor:</a:t>
            </a:r>
            <a:r>
              <a:rPr lang="en-IN" altLang="en-US" sz="4800" dirty="0"/>
              <a:t> </a:t>
            </a:r>
            <a:r>
              <a:rPr lang="en-IN" altLang="en-US" sz="4800" dirty="0" err="1"/>
              <a:t>Abhijith</a:t>
            </a:r>
            <a:r>
              <a:rPr lang="en-IN" altLang="en-US" sz="4800" dirty="0"/>
              <a:t>(231CV152),Vidya(231CV155),</a:t>
            </a:r>
            <a:r>
              <a:rPr lang="en-IN" altLang="en-US" sz="4800" dirty="0" err="1"/>
              <a:t>Tejas</a:t>
            </a:r>
            <a:r>
              <a:rPr lang="en-IN" altLang="en-US" sz="4800" dirty="0"/>
              <a:t>(231CV152)</a:t>
            </a:r>
            <a:br>
              <a:rPr lang="en-IN" altLang="en-US" sz="4800" dirty="0"/>
            </a:br>
            <a:r>
              <a:rPr lang="en-IN" altLang="en-US" sz="4800" b="1" dirty="0"/>
              <a:t>Mentees:</a:t>
            </a:r>
            <a:r>
              <a:rPr lang="en-IN" altLang="en-US" sz="4800" dirty="0"/>
              <a:t> Tanmay Sharma(241CV152), Vikash Saini(241CV256)</a:t>
            </a:r>
            <a:endParaRPr lang="en-US" altLang="zh-CN" sz="4800" dirty="0">
              <a:ea typeface="宋体" panose="02010600030101010101" pitchFamily="2" charset="-122"/>
            </a:endParaRPr>
          </a:p>
        </p:txBody>
      </p:sp>
      <p:sp>
        <p:nvSpPr>
          <p:cNvPr id="4149" name="Rectangle 752">
            <a:extLst>
              <a:ext uri="{FF2B5EF4-FFF2-40B4-BE49-F238E27FC236}">
                <a16:creationId xmlns:a16="http://schemas.microsoft.com/office/drawing/2014/main" id="{0FFAD33C-364E-402A-FC18-C9C66DE72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8050" y="19564350"/>
            <a:ext cx="10598150" cy="4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9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BB918-ADAD-39A7-197C-429A85F48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1" t="33688" r="4453" b="32552"/>
          <a:stretch>
            <a:fillRect/>
          </a:stretch>
        </p:blipFill>
        <p:spPr>
          <a:xfrm>
            <a:off x="1044650" y="1218105"/>
            <a:ext cx="5464176" cy="28151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DC30D3-23DA-276F-F282-DE0E85456D1D}"/>
              </a:ext>
            </a:extLst>
          </p:cNvPr>
          <p:cNvSpPr txBox="1"/>
          <p:nvPr/>
        </p:nvSpPr>
        <p:spPr>
          <a:xfrm>
            <a:off x="609602" y="12939603"/>
            <a:ext cx="107061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b="1" dirty="0"/>
          </a:p>
          <a:p>
            <a:r>
              <a:rPr lang="en-US" sz="3800" dirty="0"/>
              <a:t>1)To simplify SFD and BMD calculations for civil engineering students. </a:t>
            </a:r>
          </a:p>
          <a:p>
            <a:r>
              <a:rPr lang="en-US" sz="3800" dirty="0"/>
              <a:t>2)To provide a user-friendly and interactive web interface. </a:t>
            </a:r>
          </a:p>
          <a:p>
            <a:r>
              <a:rPr lang="en-US" sz="3800" dirty="0"/>
              <a:t>3)To minimize manual calculation errors. </a:t>
            </a:r>
          </a:p>
          <a:p>
            <a:r>
              <a:rPr lang="en-US" sz="3800" dirty="0"/>
              <a:t>4)To improve conceptual clarity through visualization. </a:t>
            </a:r>
          </a:p>
          <a:p>
            <a:r>
              <a:rPr lang="en-US" sz="3800" dirty="0"/>
              <a:t>5)Future scope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800" dirty="0"/>
              <a:t>Indeterminate structures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800" dirty="0"/>
              <a:t>3D structural analysis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800" dirty="0"/>
              <a:t>Real-time simulation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77DA66-4720-D19A-2710-4369F9B43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20813408"/>
            <a:ext cx="11519500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Arial" panose="020B0604020202020204" pitchFamily="34" charset="0"/>
              </a:rPr>
              <a:t>1)</a:t>
            </a:r>
            <a:r>
              <a:rPr lang="en-US" altLang="en-US" sz="3600" b="1" dirty="0">
                <a:latin typeface="Arial" panose="020B0604020202020204" pitchFamily="34" charset="0"/>
              </a:rPr>
              <a:t>I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nput Parameters: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Beam configuration: Simply Supported / Cantilever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Span length and support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cases: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 loads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Uniformly Distributed Loads (UDL)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moments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2)Support Reaction Calculation: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Reactions are computed using static equilibrium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Arial" panose="020B0604020202020204" pitchFamily="34" charset="0"/>
              </a:rPr>
              <a:t>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equations: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ΣF = 0 (sum of vertical and horizontal forces: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Fx,Fy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ΣM = 0 (sum of moments about a point)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multiple loads, superposition is applied. 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FF32B7-2552-E480-D54E-860D8E71E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77553" y="13395258"/>
            <a:ext cx="12359474" cy="1292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800" dirty="0">
                <a:latin typeface="Arial" panose="020B0604020202020204" pitchFamily="34" charset="0"/>
              </a:rPr>
              <a:t>1)T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 developed website effectively performs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800" dirty="0">
                <a:latin typeface="Arial" panose="020B0604020202020204" pitchFamily="34" charset="0"/>
              </a:rPr>
              <a:t> 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statically determinate beams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generates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800" dirty="0">
                <a:latin typeface="Arial" panose="020B0604020202020204" pitchFamily="34" charset="0"/>
              </a:rPr>
              <a:t> 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SFD and BMD.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2)The tool successfully converts numerical results into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graphical representations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800" dirty="0">
                <a:latin typeface="Arial" panose="020B0604020202020204" pitchFamily="34" charset="0"/>
              </a:rPr>
              <a:t> 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of structural behavior.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3)Comparison with manual calculations shows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800" b="1" dirty="0">
                <a:latin typeface="Arial" panose="020B0604020202020204" pitchFamily="34" charset="0"/>
              </a:rPr>
              <a:t>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 and reliability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developed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4)The project demonstrates how computational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complexity, save time, and minimize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human errors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structural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5)It serves as an effective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and teaching aid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civil engineering students.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6)Future Enhancements: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Extension to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statically indeterminate structures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Inclusion of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and moving load analysis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advanced design modules and 3D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implementation of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equilibrium equations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(ΣF = 0, ΣM = 0)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precise computation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800" dirty="0">
                <a:latin typeface="Arial" panose="020B0604020202020204" pitchFamily="34" charset="0"/>
              </a:rPr>
              <a:t> 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reactions, shear forces, and bending moments.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BFB75D3-A9A1-538D-CB00-F3AE94180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9264" y="5502256"/>
            <a:ext cx="11728929" cy="12649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3)Shear Force Calculation: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Beam is divided into segments at load application points.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Shear force at any section is calculated by summing vertical forces to the left/right of the section.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Discontinuities are observed at point loads and reactions.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4)Bending Moment Calculation: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Bending moment at a section is obtained by taking moments of forces about that section.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Variation: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under point loads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Parabolic under UDL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bending moment and point of contraflexure are identified.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5)Diagram Generation: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results are converted into arrays of values along beam length.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Graphs for SFD and BMD are plotted using visualization library (Matplotlib).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scaling and labeling are ensured.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7623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9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7623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9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7043</TotalTime>
  <Words>604</Words>
  <Application>Microsoft Office PowerPoint</Application>
  <PresentationFormat>Custom</PresentationFormat>
  <Paragraphs>77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Default Design</vt:lpstr>
      <vt:lpstr>Equation</vt:lpstr>
      <vt:lpstr>PowerPoint Presentation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Computing Center</dc:creator>
  <cp:lastModifiedBy>Tanmay</cp:lastModifiedBy>
  <cp:revision>316</cp:revision>
  <cp:lastPrinted>2000-07-12T04:33:52Z</cp:lastPrinted>
  <dcterms:created xsi:type="dcterms:W3CDTF">2000-02-06T19:06:36Z</dcterms:created>
  <dcterms:modified xsi:type="dcterms:W3CDTF">2026-03-24T03:19:43Z</dcterms:modified>
</cp:coreProperties>
</file>