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8" r:id="rId2"/>
  </p:sldIdLst>
  <p:sldSz cx="36576000" cy="29260800"/>
  <p:notesSz cx="6994525" cy="9280525"/>
  <p:defaultTextStyle>
    <a:defPPr>
      <a:defRPr lang="en-US"/>
    </a:defPPr>
    <a:lvl1pPr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5pPr>
    <a:lvl6pPr marL="2286000" algn="l" defTabSz="914400" rtl="0" eaLnBrk="1" latinLnBrk="0" hangingPunct="1">
      <a:defRPr sz="9900" kern="1200">
        <a:solidFill>
          <a:schemeClr val="tx1"/>
        </a:solidFill>
        <a:latin typeface="Times New Roman" panose="02020603050405020304" pitchFamily="18" charset="0"/>
        <a:ea typeface="+mn-ea"/>
        <a:cs typeface="+mn-cs"/>
      </a:defRPr>
    </a:lvl6pPr>
    <a:lvl7pPr marL="2743200" algn="l" defTabSz="914400" rtl="0" eaLnBrk="1" latinLnBrk="0" hangingPunct="1">
      <a:defRPr sz="9900" kern="1200">
        <a:solidFill>
          <a:schemeClr val="tx1"/>
        </a:solidFill>
        <a:latin typeface="Times New Roman" panose="02020603050405020304" pitchFamily="18" charset="0"/>
        <a:ea typeface="+mn-ea"/>
        <a:cs typeface="+mn-cs"/>
      </a:defRPr>
    </a:lvl7pPr>
    <a:lvl8pPr marL="3200400" algn="l" defTabSz="914400" rtl="0" eaLnBrk="1" latinLnBrk="0" hangingPunct="1">
      <a:defRPr sz="9900" kern="1200">
        <a:solidFill>
          <a:schemeClr val="tx1"/>
        </a:solidFill>
        <a:latin typeface="Times New Roman" panose="02020603050405020304" pitchFamily="18" charset="0"/>
        <a:ea typeface="+mn-ea"/>
        <a:cs typeface="+mn-cs"/>
      </a:defRPr>
    </a:lvl8pPr>
    <a:lvl9pPr marL="3657600" algn="l" defTabSz="914400" rtl="0" eaLnBrk="1" latinLnBrk="0" hangingPunct="1">
      <a:defRPr sz="99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9421">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40C049"/>
    <a:srgbClr val="FF0000"/>
    <a:srgbClr val="00CCFF"/>
    <a:srgbClr val="FFCC99"/>
    <a:srgbClr val="CCECFF"/>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8486" autoAdjust="0"/>
    <p:restoredTop sz="91854" autoAdjust="0"/>
  </p:normalViewPr>
  <p:slideViewPr>
    <p:cSldViewPr snapToGrid="0">
      <p:cViewPr>
        <p:scale>
          <a:sx n="50" d="100"/>
          <a:sy n="50" d="100"/>
        </p:scale>
        <p:origin x="-5232" y="-5957"/>
      </p:cViewPr>
      <p:guideLst>
        <p:guide orient="horz" pos="9421"/>
        <p:guide pos="1152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4B744BE-EF4D-08F5-25F0-BE850F75BE60}"/>
              </a:ext>
            </a:extLst>
          </p:cNvPr>
          <p:cNvSpPr>
            <a:spLocks noGrp="1" noChangeArrowheads="1"/>
          </p:cNvSpPr>
          <p:nvPr>
            <p:ph type="hdr" sz="quarter"/>
          </p:nvPr>
        </p:nvSpPr>
        <p:spPr bwMode="auto">
          <a:xfrm>
            <a:off x="0" y="0"/>
            <a:ext cx="3048000" cy="457200"/>
          </a:xfrm>
          <a:prstGeom prst="rect">
            <a:avLst/>
          </a:prstGeom>
          <a:noFill/>
          <a:ln>
            <a:noFill/>
          </a:ln>
          <a:effectLst/>
        </p:spPr>
        <p:txBody>
          <a:bodyPr vert="horz" wrap="square" lIns="92075" tIns="46038" rIns="92075" bIns="46038" numCol="1" anchor="t" anchorCtr="0" compatLnSpc="1">
            <a:prstTxWarp prst="textNoShape">
              <a:avLst/>
            </a:prstTxWarp>
          </a:bodyPr>
          <a:lstStyle>
            <a:lvl1pPr>
              <a:defRPr sz="1200">
                <a:ea typeface="宋体" panose="02010600030101010101" pitchFamily="2" charset="-122"/>
              </a:defRPr>
            </a:lvl1pPr>
          </a:lstStyle>
          <a:p>
            <a:pPr>
              <a:defRPr/>
            </a:pPr>
            <a:endParaRPr lang="en-US" altLang="zh-CN"/>
          </a:p>
        </p:txBody>
      </p:sp>
      <p:sp>
        <p:nvSpPr>
          <p:cNvPr id="3075" name="Rectangle 3">
            <a:extLst>
              <a:ext uri="{FF2B5EF4-FFF2-40B4-BE49-F238E27FC236}">
                <a16:creationId xmlns:a16="http://schemas.microsoft.com/office/drawing/2014/main" id="{61D41DEF-6184-1CF2-5536-7C226D9F5653}"/>
              </a:ext>
            </a:extLst>
          </p:cNvPr>
          <p:cNvSpPr>
            <a:spLocks noGrp="1" noChangeArrowheads="1"/>
          </p:cNvSpPr>
          <p:nvPr>
            <p:ph type="dt" sz="quarter" idx="1"/>
          </p:nvPr>
        </p:nvSpPr>
        <p:spPr bwMode="auto">
          <a:xfrm>
            <a:off x="3965575" y="0"/>
            <a:ext cx="3048000" cy="457200"/>
          </a:xfrm>
          <a:prstGeom prst="rect">
            <a:avLst/>
          </a:prstGeom>
          <a:noFill/>
          <a:ln>
            <a:noFill/>
          </a:ln>
          <a:effectLst/>
        </p:spPr>
        <p:txBody>
          <a:bodyPr vert="horz" wrap="square" lIns="92075" tIns="46038" rIns="92075" bIns="46038" numCol="1" anchor="t" anchorCtr="0" compatLnSpc="1">
            <a:prstTxWarp prst="textNoShape">
              <a:avLst/>
            </a:prstTxWarp>
          </a:bodyPr>
          <a:lstStyle>
            <a:lvl1pPr algn="r">
              <a:defRPr sz="1200">
                <a:ea typeface="宋体" panose="02010600030101010101"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9DCA15CA-2ABD-B3A5-78F8-D3A56EE671EA}"/>
              </a:ext>
            </a:extLst>
          </p:cNvPr>
          <p:cNvSpPr>
            <a:spLocks noGrp="1" noChangeArrowheads="1"/>
          </p:cNvSpPr>
          <p:nvPr>
            <p:ph type="ftr" sz="quarter" idx="2"/>
          </p:nvPr>
        </p:nvSpPr>
        <p:spPr bwMode="auto">
          <a:xfrm>
            <a:off x="0" y="8837613"/>
            <a:ext cx="3048000" cy="457200"/>
          </a:xfrm>
          <a:prstGeom prst="rect">
            <a:avLst/>
          </a:prstGeom>
          <a:noFill/>
          <a:ln>
            <a:noFill/>
          </a:ln>
          <a:effectLst/>
        </p:spPr>
        <p:txBody>
          <a:bodyPr vert="horz" wrap="square" lIns="92075" tIns="46038" rIns="92075" bIns="46038" numCol="1" anchor="b" anchorCtr="0" compatLnSpc="1">
            <a:prstTxWarp prst="textNoShape">
              <a:avLst/>
            </a:prstTxWarp>
          </a:bodyPr>
          <a:lstStyle>
            <a:lvl1pPr>
              <a:defRPr sz="1200">
                <a:ea typeface="宋体" panose="02010600030101010101" pitchFamily="2" charset="-122"/>
              </a:defRPr>
            </a:lvl1pPr>
          </a:lstStyle>
          <a:p>
            <a:pPr>
              <a:defRPr/>
            </a:pPr>
            <a:endParaRPr lang="en-US" altLang="zh-CN"/>
          </a:p>
        </p:txBody>
      </p:sp>
      <p:sp>
        <p:nvSpPr>
          <p:cNvPr id="3077" name="Rectangle 5">
            <a:extLst>
              <a:ext uri="{FF2B5EF4-FFF2-40B4-BE49-F238E27FC236}">
                <a16:creationId xmlns:a16="http://schemas.microsoft.com/office/drawing/2014/main" id="{6FC7DB90-A982-81C3-2A33-F09170105D63}"/>
              </a:ext>
            </a:extLst>
          </p:cNvPr>
          <p:cNvSpPr>
            <a:spLocks noGrp="1" noChangeArrowheads="1"/>
          </p:cNvSpPr>
          <p:nvPr>
            <p:ph type="sldNum" sz="quarter" idx="3"/>
          </p:nvPr>
        </p:nvSpPr>
        <p:spPr bwMode="auto">
          <a:xfrm>
            <a:off x="3965575" y="8837613"/>
            <a:ext cx="3048000" cy="457200"/>
          </a:xfrm>
          <a:prstGeom prst="rect">
            <a:avLst/>
          </a:prstGeom>
          <a:noFill/>
          <a:ln>
            <a:noFill/>
          </a:ln>
          <a:effectLst/>
        </p:spPr>
        <p:txBody>
          <a:bodyPr vert="horz" wrap="square" lIns="92075" tIns="46038" rIns="92075" bIns="46038" numCol="1" anchor="b" anchorCtr="0" compatLnSpc="1">
            <a:prstTxWarp prst="textNoShape">
              <a:avLst/>
            </a:prstTxWarp>
          </a:bodyPr>
          <a:lstStyle>
            <a:lvl1pPr algn="r">
              <a:defRPr sz="1200">
                <a:ea typeface="宋体" panose="02010600030101010101" pitchFamily="2" charset="-122"/>
              </a:defRPr>
            </a:lvl1pPr>
          </a:lstStyle>
          <a:p>
            <a:pPr>
              <a:defRPr/>
            </a:pPr>
            <a:fld id="{7FB68BFB-E5F6-4CA4-AA21-25CCC6E52CC4}"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AB03707-0524-0333-CE81-1543B05496B3}"/>
              </a:ext>
            </a:extLst>
          </p:cNvPr>
          <p:cNvSpPr>
            <a:spLocks noGrp="1" noChangeArrowheads="1"/>
          </p:cNvSpPr>
          <p:nvPr>
            <p:ph type="hdr" sz="quarter"/>
          </p:nvPr>
        </p:nvSpPr>
        <p:spPr bwMode="auto">
          <a:xfrm>
            <a:off x="0" y="0"/>
            <a:ext cx="3043238" cy="460375"/>
          </a:xfrm>
          <a:prstGeom prst="rect">
            <a:avLst/>
          </a:prstGeom>
          <a:noFill/>
          <a:ln>
            <a:noFill/>
          </a:ln>
          <a:effectLst/>
        </p:spPr>
        <p:txBody>
          <a:bodyPr vert="horz" wrap="square" lIns="92075" tIns="46038" rIns="92075" bIns="46038" numCol="1" anchor="t" anchorCtr="0" compatLnSpc="1">
            <a:prstTxWarp prst="textNoShape">
              <a:avLst/>
            </a:prstTxWarp>
          </a:bodyPr>
          <a:lstStyle>
            <a:lvl1pPr defTabSz="917575">
              <a:defRPr sz="1200">
                <a:ea typeface="宋体" panose="02010600030101010101" pitchFamily="2" charset="-122"/>
              </a:defRPr>
            </a:lvl1pPr>
          </a:lstStyle>
          <a:p>
            <a:pPr>
              <a:defRPr/>
            </a:pPr>
            <a:endParaRPr lang="en-US" altLang="zh-CN"/>
          </a:p>
        </p:txBody>
      </p:sp>
      <p:sp>
        <p:nvSpPr>
          <p:cNvPr id="2051" name="Rectangle 3">
            <a:extLst>
              <a:ext uri="{FF2B5EF4-FFF2-40B4-BE49-F238E27FC236}">
                <a16:creationId xmlns:a16="http://schemas.microsoft.com/office/drawing/2014/main" id="{D84DBB77-5228-A540-D1E7-0A427AB386FB}"/>
              </a:ext>
            </a:extLst>
          </p:cNvPr>
          <p:cNvSpPr>
            <a:spLocks noGrp="1" noChangeArrowheads="1"/>
          </p:cNvSpPr>
          <p:nvPr>
            <p:ph type="dt" idx="1"/>
          </p:nvPr>
        </p:nvSpPr>
        <p:spPr bwMode="auto">
          <a:xfrm>
            <a:off x="3957638" y="0"/>
            <a:ext cx="3041650" cy="460375"/>
          </a:xfrm>
          <a:prstGeom prst="rect">
            <a:avLst/>
          </a:prstGeom>
          <a:noFill/>
          <a:ln>
            <a:noFill/>
          </a:ln>
          <a:effectLst/>
        </p:spPr>
        <p:txBody>
          <a:bodyPr vert="horz" wrap="square" lIns="92075" tIns="46038" rIns="92075" bIns="46038" numCol="1" anchor="t" anchorCtr="0" compatLnSpc="1">
            <a:prstTxWarp prst="textNoShape">
              <a:avLst/>
            </a:prstTxWarp>
          </a:bodyPr>
          <a:lstStyle>
            <a:lvl1pPr algn="r" defTabSz="917575">
              <a:defRPr sz="120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FDBD6B15-84CA-258A-D890-9968F09F0C22}"/>
              </a:ext>
            </a:extLst>
          </p:cNvPr>
          <p:cNvSpPr>
            <a:spLocks noGrp="1" noRot="1" noChangeAspect="1" noChangeArrowheads="1" noTextEdit="1"/>
          </p:cNvSpPr>
          <p:nvPr>
            <p:ph type="sldImg" idx="2"/>
          </p:nvPr>
        </p:nvSpPr>
        <p:spPr bwMode="auto">
          <a:xfrm>
            <a:off x="1346200" y="692150"/>
            <a:ext cx="4305300" cy="344487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B565E246-37E3-AE92-D890-D9C45483BD41}"/>
              </a:ext>
            </a:extLst>
          </p:cNvPr>
          <p:cNvSpPr>
            <a:spLocks noGrp="1" noChangeArrowheads="1"/>
          </p:cNvSpPr>
          <p:nvPr>
            <p:ph type="body" sz="quarter" idx="3"/>
          </p:nvPr>
        </p:nvSpPr>
        <p:spPr bwMode="auto">
          <a:xfrm>
            <a:off x="912813" y="4445000"/>
            <a:ext cx="5173662" cy="4140200"/>
          </a:xfrm>
          <a:prstGeom prst="rect">
            <a:avLst/>
          </a:prstGeom>
          <a:noFill/>
          <a:ln>
            <a:noFill/>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a:extLst>
              <a:ext uri="{FF2B5EF4-FFF2-40B4-BE49-F238E27FC236}">
                <a16:creationId xmlns:a16="http://schemas.microsoft.com/office/drawing/2014/main" id="{A354A30A-2198-BAB3-01A2-5E32D5990679}"/>
              </a:ext>
            </a:extLst>
          </p:cNvPr>
          <p:cNvSpPr>
            <a:spLocks noGrp="1" noChangeArrowheads="1"/>
          </p:cNvSpPr>
          <p:nvPr>
            <p:ph type="ftr" sz="quarter" idx="4"/>
          </p:nvPr>
        </p:nvSpPr>
        <p:spPr bwMode="auto">
          <a:xfrm>
            <a:off x="0" y="8815388"/>
            <a:ext cx="3043238" cy="460375"/>
          </a:xfrm>
          <a:prstGeom prst="rect">
            <a:avLst/>
          </a:prstGeom>
          <a:noFill/>
          <a:ln>
            <a:noFill/>
          </a:ln>
          <a:effectLst/>
        </p:spPr>
        <p:txBody>
          <a:bodyPr vert="horz" wrap="square" lIns="92075" tIns="46038" rIns="92075" bIns="46038" numCol="1" anchor="b" anchorCtr="0" compatLnSpc="1">
            <a:prstTxWarp prst="textNoShape">
              <a:avLst/>
            </a:prstTxWarp>
          </a:bodyPr>
          <a:lstStyle>
            <a:lvl1pPr defTabSz="917575">
              <a:defRPr sz="1200">
                <a:ea typeface="宋体" panose="02010600030101010101" pitchFamily="2" charset="-122"/>
              </a:defRPr>
            </a:lvl1pPr>
          </a:lstStyle>
          <a:p>
            <a:pPr>
              <a:defRPr/>
            </a:pPr>
            <a:endParaRPr lang="en-US" altLang="zh-CN"/>
          </a:p>
        </p:txBody>
      </p:sp>
      <p:sp>
        <p:nvSpPr>
          <p:cNvPr id="2055" name="Rectangle 7">
            <a:extLst>
              <a:ext uri="{FF2B5EF4-FFF2-40B4-BE49-F238E27FC236}">
                <a16:creationId xmlns:a16="http://schemas.microsoft.com/office/drawing/2014/main" id="{84A37E4F-3961-891B-EF4E-85956B7E1108}"/>
              </a:ext>
            </a:extLst>
          </p:cNvPr>
          <p:cNvSpPr>
            <a:spLocks noGrp="1" noChangeArrowheads="1"/>
          </p:cNvSpPr>
          <p:nvPr>
            <p:ph type="sldNum" sz="quarter" idx="5"/>
          </p:nvPr>
        </p:nvSpPr>
        <p:spPr bwMode="auto">
          <a:xfrm>
            <a:off x="3957638" y="8815388"/>
            <a:ext cx="3041650" cy="460375"/>
          </a:xfrm>
          <a:prstGeom prst="rect">
            <a:avLst/>
          </a:prstGeom>
          <a:noFill/>
          <a:ln>
            <a:noFill/>
          </a:ln>
          <a:effectLst/>
        </p:spPr>
        <p:txBody>
          <a:bodyPr vert="horz" wrap="square" lIns="92075" tIns="46038" rIns="92075" bIns="46038" numCol="1" anchor="b" anchorCtr="0" compatLnSpc="1">
            <a:prstTxWarp prst="textNoShape">
              <a:avLst/>
            </a:prstTxWarp>
          </a:bodyPr>
          <a:lstStyle>
            <a:lvl1pPr algn="r" defTabSz="917575">
              <a:defRPr sz="1200">
                <a:ea typeface="宋体" panose="02010600030101010101" pitchFamily="2" charset="-122"/>
              </a:defRPr>
            </a:lvl1pPr>
          </a:lstStyle>
          <a:p>
            <a:pPr>
              <a:defRPr/>
            </a:pPr>
            <a:fld id="{0D353551-C13F-48CF-8E17-61A2A6BC2A6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D6E81C27-E57B-FEA4-E61C-9856A52175E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17575">
              <a:defRPr sz="9900">
                <a:solidFill>
                  <a:schemeClr val="tx1"/>
                </a:solidFill>
                <a:latin typeface="Times New Roman" panose="02020603050405020304" pitchFamily="18" charset="0"/>
              </a:defRPr>
            </a:lvl1pPr>
            <a:lvl2pPr marL="742950" indent="-285750" defTabSz="917575">
              <a:defRPr sz="9900">
                <a:solidFill>
                  <a:schemeClr val="tx1"/>
                </a:solidFill>
                <a:latin typeface="Times New Roman" panose="02020603050405020304" pitchFamily="18" charset="0"/>
              </a:defRPr>
            </a:lvl2pPr>
            <a:lvl3pPr marL="1143000" indent="-228600" defTabSz="917575">
              <a:defRPr sz="9900">
                <a:solidFill>
                  <a:schemeClr val="tx1"/>
                </a:solidFill>
                <a:latin typeface="Times New Roman" panose="02020603050405020304" pitchFamily="18" charset="0"/>
              </a:defRPr>
            </a:lvl3pPr>
            <a:lvl4pPr marL="1600200" indent="-228600" defTabSz="917575">
              <a:defRPr sz="9900">
                <a:solidFill>
                  <a:schemeClr val="tx1"/>
                </a:solidFill>
                <a:latin typeface="Times New Roman" panose="02020603050405020304" pitchFamily="18" charset="0"/>
              </a:defRPr>
            </a:lvl4pPr>
            <a:lvl5pPr marL="2057400" indent="-228600" defTabSz="917575">
              <a:defRPr sz="9900">
                <a:solidFill>
                  <a:schemeClr val="tx1"/>
                </a:solidFill>
                <a:latin typeface="Times New Roman" panose="02020603050405020304" pitchFamily="18" charset="0"/>
              </a:defRPr>
            </a:lvl5pPr>
            <a:lvl6pPr marL="2514600" indent="-228600" defTabSz="917575"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defTabSz="917575"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defTabSz="917575"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defTabSz="917575" eaLnBrk="0" fontAlgn="base" hangingPunct="0">
              <a:spcBef>
                <a:spcPct val="0"/>
              </a:spcBef>
              <a:spcAft>
                <a:spcPct val="0"/>
              </a:spcAft>
              <a:defRPr sz="9900">
                <a:solidFill>
                  <a:schemeClr val="tx1"/>
                </a:solidFill>
                <a:latin typeface="Times New Roman" panose="02020603050405020304" pitchFamily="18" charset="0"/>
              </a:defRPr>
            </a:lvl9pPr>
          </a:lstStyle>
          <a:p>
            <a:fld id="{17D0F44B-CC71-4E6E-A7F0-9D009E11B7C4}" type="slidenum">
              <a:rPr lang="zh-CN" altLang="en-US" sz="1200" smtClean="0"/>
              <a:pPr/>
              <a:t>1</a:t>
            </a:fld>
            <a:endParaRPr lang="zh-CN" altLang="en-US" sz="1200"/>
          </a:p>
        </p:txBody>
      </p:sp>
      <p:sp>
        <p:nvSpPr>
          <p:cNvPr id="5123" name="Rectangle 2">
            <a:extLst>
              <a:ext uri="{FF2B5EF4-FFF2-40B4-BE49-F238E27FC236}">
                <a16:creationId xmlns:a16="http://schemas.microsoft.com/office/drawing/2014/main" id="{D4B6893B-DE68-8EA9-6038-FD7B9EB43916}"/>
              </a:ext>
            </a:extLst>
          </p:cNvPr>
          <p:cNvSpPr>
            <a:spLocks noGrp="1" noRot="1" noChangeAspect="1" noChangeArrowheads="1" noTextEdit="1"/>
          </p:cNvSpPr>
          <p:nvPr>
            <p:ph type="sldImg"/>
          </p:nvPr>
        </p:nvSpPr>
        <p:spPr>
          <a:ln cap="flat"/>
        </p:spPr>
      </p:sp>
      <p:sp>
        <p:nvSpPr>
          <p:cNvPr id="5124" name="Rectangle 3">
            <a:extLst>
              <a:ext uri="{FF2B5EF4-FFF2-40B4-BE49-F238E27FC236}">
                <a16:creationId xmlns:a16="http://schemas.microsoft.com/office/drawing/2014/main" id="{E6399211-A7A9-52AC-5F2C-1B3D5D8366F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0" y="4789488"/>
            <a:ext cx="27432000" cy="10186987"/>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4572000" y="15368588"/>
            <a:ext cx="27432000" cy="70643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a:extLst>
              <a:ext uri="{FF2B5EF4-FFF2-40B4-BE49-F238E27FC236}">
                <a16:creationId xmlns:a16="http://schemas.microsoft.com/office/drawing/2014/main" id="{9CAE9FC6-58B0-3745-25E8-A9B0BB5B86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28BE37E-93A4-1A9A-1ECD-EC775A4EB81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EC430DE-0BBB-F5D3-2CC0-0C1C8787FA2D}"/>
              </a:ext>
            </a:extLst>
          </p:cNvPr>
          <p:cNvSpPr>
            <a:spLocks noGrp="1" noChangeArrowheads="1"/>
          </p:cNvSpPr>
          <p:nvPr>
            <p:ph type="sldNum" sz="quarter" idx="12"/>
          </p:nvPr>
        </p:nvSpPr>
        <p:spPr>
          <a:ln/>
        </p:spPr>
        <p:txBody>
          <a:bodyPr/>
          <a:lstStyle>
            <a:lvl1pPr>
              <a:defRPr/>
            </a:lvl1pPr>
          </a:lstStyle>
          <a:p>
            <a:pPr>
              <a:defRPr/>
            </a:pPr>
            <a:fld id="{71E4D12F-F900-44FB-BECC-A5E82D226DD8}" type="slidenum">
              <a:rPr lang="zh-CN" altLang="en-US"/>
              <a:pPr>
                <a:defRPr/>
              </a:pPr>
              <a:t>‹#›</a:t>
            </a:fld>
            <a:endParaRPr lang="zh-CN" altLang="en-US"/>
          </a:p>
        </p:txBody>
      </p:sp>
    </p:spTree>
    <p:extLst>
      <p:ext uri="{BB962C8B-B14F-4D97-AF65-F5344CB8AC3E}">
        <p14:creationId xmlns:p14="http://schemas.microsoft.com/office/powerpoint/2010/main" val="2792477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7D457B48-50E3-91BB-74DA-396EE15953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C11355C-F67C-E18E-22A1-B6962B6F0F3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5EE56BC-C34B-236A-F0A7-8A342A956158}"/>
              </a:ext>
            </a:extLst>
          </p:cNvPr>
          <p:cNvSpPr>
            <a:spLocks noGrp="1" noChangeArrowheads="1"/>
          </p:cNvSpPr>
          <p:nvPr>
            <p:ph type="sldNum" sz="quarter" idx="12"/>
          </p:nvPr>
        </p:nvSpPr>
        <p:spPr>
          <a:ln/>
        </p:spPr>
        <p:txBody>
          <a:bodyPr/>
          <a:lstStyle>
            <a:lvl1pPr>
              <a:defRPr/>
            </a:lvl1pPr>
          </a:lstStyle>
          <a:p>
            <a:pPr>
              <a:defRPr/>
            </a:pPr>
            <a:fld id="{498002EF-35D7-4FE1-8192-A1FDF6E6070E}" type="slidenum">
              <a:rPr lang="zh-CN" altLang="en-US"/>
              <a:pPr>
                <a:defRPr/>
              </a:pPr>
              <a:t>‹#›</a:t>
            </a:fld>
            <a:endParaRPr lang="zh-CN" altLang="en-US"/>
          </a:p>
        </p:txBody>
      </p:sp>
    </p:spTree>
    <p:extLst>
      <p:ext uri="{BB962C8B-B14F-4D97-AF65-F5344CB8AC3E}">
        <p14:creationId xmlns:p14="http://schemas.microsoft.com/office/powerpoint/2010/main" val="3602988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0" y="7294563"/>
            <a:ext cx="31546800" cy="12171362"/>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495550" y="19581813"/>
            <a:ext cx="31546800" cy="64008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75057DB7-02BB-7102-86CF-47A0E54439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DDCBEE7-F554-6C3C-616E-4018ECCF88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E6508EE-EECF-D82B-879A-9EB3DBA1CBDA}"/>
              </a:ext>
            </a:extLst>
          </p:cNvPr>
          <p:cNvSpPr>
            <a:spLocks noGrp="1" noChangeArrowheads="1"/>
          </p:cNvSpPr>
          <p:nvPr>
            <p:ph type="sldNum" sz="quarter" idx="12"/>
          </p:nvPr>
        </p:nvSpPr>
        <p:spPr>
          <a:ln/>
        </p:spPr>
        <p:txBody>
          <a:bodyPr/>
          <a:lstStyle>
            <a:lvl1pPr>
              <a:defRPr/>
            </a:lvl1pPr>
          </a:lstStyle>
          <a:p>
            <a:pPr>
              <a:defRPr/>
            </a:pPr>
            <a:fld id="{2DFF01DF-2DC6-4F51-9280-F83174BB911B}" type="slidenum">
              <a:rPr lang="zh-CN" altLang="en-US"/>
              <a:pPr>
                <a:defRPr/>
              </a:pPr>
              <a:t>‹#›</a:t>
            </a:fld>
            <a:endParaRPr lang="zh-CN" altLang="en-US"/>
          </a:p>
        </p:txBody>
      </p:sp>
    </p:spTree>
    <p:extLst>
      <p:ext uri="{BB962C8B-B14F-4D97-AF65-F5344CB8AC3E}">
        <p14:creationId xmlns:p14="http://schemas.microsoft.com/office/powerpoint/2010/main" val="1619469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2749550" y="8453438"/>
            <a:ext cx="15465425" cy="17556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18367375" y="8453438"/>
            <a:ext cx="15465425" cy="17556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85A5DF18-2D5D-15E2-6429-180209ECAD9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1A1A4A0-5F3D-79B7-8AE8-BD3658FA81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4D5DBF0-9046-6158-3DB9-00CDC511FC67}"/>
              </a:ext>
            </a:extLst>
          </p:cNvPr>
          <p:cNvSpPr>
            <a:spLocks noGrp="1" noChangeArrowheads="1"/>
          </p:cNvSpPr>
          <p:nvPr>
            <p:ph type="sldNum" sz="quarter" idx="12"/>
          </p:nvPr>
        </p:nvSpPr>
        <p:spPr>
          <a:ln/>
        </p:spPr>
        <p:txBody>
          <a:bodyPr/>
          <a:lstStyle>
            <a:lvl1pPr>
              <a:defRPr/>
            </a:lvl1pPr>
          </a:lstStyle>
          <a:p>
            <a:pPr>
              <a:defRPr/>
            </a:pPr>
            <a:fld id="{9FE94C5E-3D37-4F7C-AB7C-332473EDE1BA}" type="slidenum">
              <a:rPr lang="zh-CN" altLang="en-US"/>
              <a:pPr>
                <a:defRPr/>
              </a:pPr>
              <a:t>‹#›</a:t>
            </a:fld>
            <a:endParaRPr lang="zh-CN" altLang="en-US"/>
          </a:p>
        </p:txBody>
      </p:sp>
    </p:spTree>
    <p:extLst>
      <p:ext uri="{BB962C8B-B14F-4D97-AF65-F5344CB8AC3E}">
        <p14:creationId xmlns:p14="http://schemas.microsoft.com/office/powerpoint/2010/main" val="2275536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3" y="1557338"/>
            <a:ext cx="31546800" cy="5656262"/>
          </a:xfrm>
        </p:spPr>
        <p:txBody>
          <a:bodyPr/>
          <a:lstStyle/>
          <a:p>
            <a:r>
              <a:rPr lang="en-US"/>
              <a:t>Click to edit Master title style</a:t>
            </a:r>
            <a:endParaRPr lang="en-IN"/>
          </a:p>
        </p:txBody>
      </p:sp>
      <p:sp>
        <p:nvSpPr>
          <p:cNvPr id="3" name="Text Placeholder 2"/>
          <p:cNvSpPr>
            <a:spLocks noGrp="1"/>
          </p:cNvSpPr>
          <p:nvPr>
            <p:ph type="body" idx="1"/>
          </p:nvPr>
        </p:nvSpPr>
        <p:spPr>
          <a:xfrm>
            <a:off x="2519363" y="7172325"/>
            <a:ext cx="15473362" cy="35163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19363" y="10688638"/>
            <a:ext cx="15473362" cy="157210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8516600" y="7172325"/>
            <a:ext cx="15549563" cy="35163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8516600" y="10688638"/>
            <a:ext cx="15549563" cy="157210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D1FADE14-1F96-DDAD-8B52-13D29983D3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9588F2DF-08A3-EEBE-5D95-A8357574430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461CFBDA-C50C-9E55-687F-BBC0A6286F2A}"/>
              </a:ext>
            </a:extLst>
          </p:cNvPr>
          <p:cNvSpPr>
            <a:spLocks noGrp="1" noChangeArrowheads="1"/>
          </p:cNvSpPr>
          <p:nvPr>
            <p:ph type="sldNum" sz="quarter" idx="12"/>
          </p:nvPr>
        </p:nvSpPr>
        <p:spPr>
          <a:ln/>
        </p:spPr>
        <p:txBody>
          <a:bodyPr/>
          <a:lstStyle>
            <a:lvl1pPr>
              <a:defRPr/>
            </a:lvl1pPr>
          </a:lstStyle>
          <a:p>
            <a:pPr>
              <a:defRPr/>
            </a:pPr>
            <a:fld id="{8D18D837-28C1-4333-A6A5-AD8A5EDF11B1}" type="slidenum">
              <a:rPr lang="zh-CN" altLang="en-US"/>
              <a:pPr>
                <a:defRPr/>
              </a:pPr>
              <a:t>‹#›</a:t>
            </a:fld>
            <a:endParaRPr lang="zh-CN" altLang="en-US"/>
          </a:p>
        </p:txBody>
      </p:sp>
    </p:spTree>
    <p:extLst>
      <p:ext uri="{BB962C8B-B14F-4D97-AF65-F5344CB8AC3E}">
        <p14:creationId xmlns:p14="http://schemas.microsoft.com/office/powerpoint/2010/main" val="2553612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C5ADFC04-B734-46EE-2432-9AF723C8C5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2F684DC-138E-2555-2307-2085BCBD6D1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40804E6-9A71-9AB4-7B12-D46AA93699B3}"/>
              </a:ext>
            </a:extLst>
          </p:cNvPr>
          <p:cNvSpPr>
            <a:spLocks noGrp="1" noChangeArrowheads="1"/>
          </p:cNvSpPr>
          <p:nvPr>
            <p:ph type="sldNum" sz="quarter" idx="12"/>
          </p:nvPr>
        </p:nvSpPr>
        <p:spPr>
          <a:ln/>
        </p:spPr>
        <p:txBody>
          <a:bodyPr/>
          <a:lstStyle>
            <a:lvl1pPr>
              <a:defRPr/>
            </a:lvl1pPr>
          </a:lstStyle>
          <a:p>
            <a:pPr>
              <a:defRPr/>
            </a:pPr>
            <a:fld id="{BE96A4C8-CA4D-49F8-8EBB-80F75D267402}" type="slidenum">
              <a:rPr lang="zh-CN" altLang="en-US"/>
              <a:pPr>
                <a:defRPr/>
              </a:pPr>
              <a:t>‹#›</a:t>
            </a:fld>
            <a:endParaRPr lang="zh-CN" altLang="en-US"/>
          </a:p>
        </p:txBody>
      </p:sp>
    </p:spTree>
    <p:extLst>
      <p:ext uri="{BB962C8B-B14F-4D97-AF65-F5344CB8AC3E}">
        <p14:creationId xmlns:p14="http://schemas.microsoft.com/office/powerpoint/2010/main" val="1172448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246F70-89DB-D74D-BCE0-1C69433886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A13F36D-2C76-E674-E96C-293D4C7B7F8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ECADC50-64F8-C217-948C-0DDE1A27F61F}"/>
              </a:ext>
            </a:extLst>
          </p:cNvPr>
          <p:cNvSpPr>
            <a:spLocks noGrp="1" noChangeArrowheads="1"/>
          </p:cNvSpPr>
          <p:nvPr>
            <p:ph type="sldNum" sz="quarter" idx="12"/>
          </p:nvPr>
        </p:nvSpPr>
        <p:spPr>
          <a:ln/>
        </p:spPr>
        <p:txBody>
          <a:bodyPr/>
          <a:lstStyle>
            <a:lvl1pPr>
              <a:defRPr/>
            </a:lvl1pPr>
          </a:lstStyle>
          <a:p>
            <a:pPr>
              <a:defRPr/>
            </a:pPr>
            <a:fld id="{E17FC3C4-C704-40B0-B758-5DE09C3ED2DD}" type="slidenum">
              <a:rPr lang="zh-CN" altLang="en-US"/>
              <a:pPr>
                <a:defRPr/>
              </a:pPr>
              <a:t>‹#›</a:t>
            </a:fld>
            <a:endParaRPr lang="zh-CN" altLang="en-US"/>
          </a:p>
        </p:txBody>
      </p:sp>
    </p:spTree>
    <p:extLst>
      <p:ext uri="{BB962C8B-B14F-4D97-AF65-F5344CB8AC3E}">
        <p14:creationId xmlns:p14="http://schemas.microsoft.com/office/powerpoint/2010/main" val="4166735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3" y="1951038"/>
            <a:ext cx="11796712" cy="6827837"/>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5549563" y="4213225"/>
            <a:ext cx="18516600" cy="20794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2519363" y="8778875"/>
            <a:ext cx="11796712" cy="162623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ED07B0C0-946B-F918-C6DB-8337D0F6CE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16AD868-D416-2C89-A12F-D55BF1A3AD1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91A1CDB-DA16-3AA1-5F74-CB7F8F2978CA}"/>
              </a:ext>
            </a:extLst>
          </p:cNvPr>
          <p:cNvSpPr>
            <a:spLocks noGrp="1" noChangeArrowheads="1"/>
          </p:cNvSpPr>
          <p:nvPr>
            <p:ph type="sldNum" sz="quarter" idx="12"/>
          </p:nvPr>
        </p:nvSpPr>
        <p:spPr>
          <a:ln/>
        </p:spPr>
        <p:txBody>
          <a:bodyPr/>
          <a:lstStyle>
            <a:lvl1pPr>
              <a:defRPr/>
            </a:lvl1pPr>
          </a:lstStyle>
          <a:p>
            <a:pPr>
              <a:defRPr/>
            </a:pPr>
            <a:fld id="{F658F528-F560-4724-9C74-4FF4C8B41CA3}" type="slidenum">
              <a:rPr lang="zh-CN" altLang="en-US"/>
              <a:pPr>
                <a:defRPr/>
              </a:pPr>
              <a:t>‹#›</a:t>
            </a:fld>
            <a:endParaRPr lang="zh-CN" altLang="en-US"/>
          </a:p>
        </p:txBody>
      </p:sp>
    </p:spTree>
    <p:extLst>
      <p:ext uri="{BB962C8B-B14F-4D97-AF65-F5344CB8AC3E}">
        <p14:creationId xmlns:p14="http://schemas.microsoft.com/office/powerpoint/2010/main" val="4248358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3" y="1951038"/>
            <a:ext cx="11796712" cy="6827837"/>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5549563" y="4213225"/>
            <a:ext cx="18516600" cy="20794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2519363" y="8778875"/>
            <a:ext cx="11796712" cy="162623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52C910CB-A8BA-BDDC-E663-A9759F22CCA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C17686B-17FA-2F0B-84FB-3BE8E184E76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8D01D50-9B25-B64F-A5D1-FCB3EF9890F8}"/>
              </a:ext>
            </a:extLst>
          </p:cNvPr>
          <p:cNvSpPr>
            <a:spLocks noGrp="1" noChangeArrowheads="1"/>
          </p:cNvSpPr>
          <p:nvPr>
            <p:ph type="sldNum" sz="quarter" idx="12"/>
          </p:nvPr>
        </p:nvSpPr>
        <p:spPr>
          <a:ln/>
        </p:spPr>
        <p:txBody>
          <a:bodyPr/>
          <a:lstStyle>
            <a:lvl1pPr>
              <a:defRPr/>
            </a:lvl1pPr>
          </a:lstStyle>
          <a:p>
            <a:pPr>
              <a:defRPr/>
            </a:pPr>
            <a:fld id="{592D5BC0-309B-42EF-91D6-1D468098618C}" type="slidenum">
              <a:rPr lang="zh-CN" altLang="en-US"/>
              <a:pPr>
                <a:defRPr/>
              </a:pPr>
              <a:t>‹#›</a:t>
            </a:fld>
            <a:endParaRPr lang="zh-CN" altLang="en-US"/>
          </a:p>
        </p:txBody>
      </p:sp>
    </p:spTree>
    <p:extLst>
      <p:ext uri="{BB962C8B-B14F-4D97-AF65-F5344CB8AC3E}">
        <p14:creationId xmlns:p14="http://schemas.microsoft.com/office/powerpoint/2010/main" val="2541675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83E90035-EDF2-1AA7-2BFA-A0F508C098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0A4F36E-1313-E1E9-98BC-1B88B7C6ABC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3A58CAE-A4D6-7717-2A44-DCCC46FD6778}"/>
              </a:ext>
            </a:extLst>
          </p:cNvPr>
          <p:cNvSpPr>
            <a:spLocks noGrp="1" noChangeArrowheads="1"/>
          </p:cNvSpPr>
          <p:nvPr>
            <p:ph type="sldNum" sz="quarter" idx="12"/>
          </p:nvPr>
        </p:nvSpPr>
        <p:spPr>
          <a:ln/>
        </p:spPr>
        <p:txBody>
          <a:bodyPr/>
          <a:lstStyle>
            <a:lvl1pPr>
              <a:defRPr/>
            </a:lvl1pPr>
          </a:lstStyle>
          <a:p>
            <a:pPr>
              <a:defRPr/>
            </a:pPr>
            <a:fld id="{26776D04-4D46-4381-8472-694DFE35FC68}" type="slidenum">
              <a:rPr lang="zh-CN" altLang="en-US"/>
              <a:pPr>
                <a:defRPr/>
              </a:pPr>
              <a:t>‹#›</a:t>
            </a:fld>
            <a:endParaRPr lang="zh-CN" altLang="en-US"/>
          </a:p>
        </p:txBody>
      </p:sp>
    </p:spTree>
    <p:extLst>
      <p:ext uri="{BB962C8B-B14F-4D97-AF65-F5344CB8AC3E}">
        <p14:creationId xmlns:p14="http://schemas.microsoft.com/office/powerpoint/2010/main" val="145392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061988" y="2600325"/>
            <a:ext cx="7770812" cy="234092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2749550" y="2600325"/>
            <a:ext cx="23160038" cy="23409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8D58A219-D450-4EA7-AA58-A7BFC52AA9F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E216982-FBFD-3F66-D131-D4FAD615C65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7B38D35-7635-28E0-6D13-BB9DDC8E44E5}"/>
              </a:ext>
            </a:extLst>
          </p:cNvPr>
          <p:cNvSpPr>
            <a:spLocks noGrp="1" noChangeArrowheads="1"/>
          </p:cNvSpPr>
          <p:nvPr>
            <p:ph type="sldNum" sz="quarter" idx="12"/>
          </p:nvPr>
        </p:nvSpPr>
        <p:spPr>
          <a:ln/>
        </p:spPr>
        <p:txBody>
          <a:bodyPr/>
          <a:lstStyle>
            <a:lvl1pPr>
              <a:defRPr/>
            </a:lvl1pPr>
          </a:lstStyle>
          <a:p>
            <a:pPr>
              <a:defRPr/>
            </a:pPr>
            <a:fld id="{8FB3CEB0-BE2C-4AD7-8467-37A30FF105E7}" type="slidenum">
              <a:rPr lang="zh-CN" altLang="en-US"/>
              <a:pPr>
                <a:defRPr/>
              </a:pPr>
              <a:t>‹#›</a:t>
            </a:fld>
            <a:endParaRPr lang="zh-CN" altLang="en-US"/>
          </a:p>
        </p:txBody>
      </p:sp>
    </p:spTree>
    <p:extLst>
      <p:ext uri="{BB962C8B-B14F-4D97-AF65-F5344CB8AC3E}">
        <p14:creationId xmlns:p14="http://schemas.microsoft.com/office/powerpoint/2010/main" val="1927170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268F383-176D-C69A-525B-FE6EF58D975D}"/>
              </a:ext>
            </a:extLst>
          </p:cNvPr>
          <p:cNvSpPr>
            <a:spLocks noGrp="1" noChangeArrowheads="1"/>
          </p:cNvSpPr>
          <p:nvPr>
            <p:ph type="title"/>
          </p:nvPr>
        </p:nvSpPr>
        <p:spPr bwMode="auto">
          <a:xfrm>
            <a:off x="2749550" y="2600325"/>
            <a:ext cx="3108325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8815" tIns="189410" rIns="378815" bIns="18941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ADEB0B5A-C6E5-58EE-EC5E-6B33CB962365}"/>
              </a:ext>
            </a:extLst>
          </p:cNvPr>
          <p:cNvSpPr>
            <a:spLocks noGrp="1" noChangeArrowheads="1"/>
          </p:cNvSpPr>
          <p:nvPr>
            <p:ph type="body" idx="1"/>
          </p:nvPr>
        </p:nvSpPr>
        <p:spPr bwMode="auto">
          <a:xfrm>
            <a:off x="2749550" y="8453438"/>
            <a:ext cx="31083250" cy="1755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8815" tIns="189410" rIns="378815" bIns="18941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9D3E3870-449F-74D1-EFA7-0F20C37BD79C}"/>
              </a:ext>
            </a:extLst>
          </p:cNvPr>
          <p:cNvSpPr>
            <a:spLocks noGrp="1" noChangeArrowheads="1"/>
          </p:cNvSpPr>
          <p:nvPr>
            <p:ph type="dt" sz="half" idx="2"/>
          </p:nvPr>
        </p:nvSpPr>
        <p:spPr bwMode="auto">
          <a:xfrm>
            <a:off x="2749550" y="26660475"/>
            <a:ext cx="7620000" cy="1949450"/>
          </a:xfrm>
          <a:prstGeom prst="rect">
            <a:avLst/>
          </a:prstGeom>
          <a:noFill/>
          <a:ln>
            <a:noFill/>
          </a:ln>
          <a:effectLst/>
        </p:spPr>
        <p:txBody>
          <a:bodyPr vert="horz" wrap="square" lIns="378815" tIns="189410" rIns="378815" bIns="189410" numCol="1" anchor="t" anchorCtr="0" compatLnSpc="1">
            <a:prstTxWarp prst="textNoShape">
              <a:avLst/>
            </a:prstTxWarp>
          </a:bodyPr>
          <a:lstStyle>
            <a:lvl1pPr defTabSz="3762375">
              <a:defRPr sz="5800">
                <a:ea typeface="宋体" panose="02010600030101010101" pitchFamily="2" charset="-122"/>
              </a:defRPr>
            </a:lvl1pPr>
          </a:lstStyle>
          <a:p>
            <a:pPr>
              <a:defRPr/>
            </a:pPr>
            <a:endParaRPr lang="en-US" altLang="zh-CN"/>
          </a:p>
        </p:txBody>
      </p:sp>
      <p:sp>
        <p:nvSpPr>
          <p:cNvPr id="1029" name="Rectangle 5">
            <a:extLst>
              <a:ext uri="{FF2B5EF4-FFF2-40B4-BE49-F238E27FC236}">
                <a16:creationId xmlns:a16="http://schemas.microsoft.com/office/drawing/2014/main" id="{FBD9F1CF-5112-DABD-249C-C740FF0C738B}"/>
              </a:ext>
            </a:extLst>
          </p:cNvPr>
          <p:cNvSpPr>
            <a:spLocks noGrp="1" noChangeArrowheads="1"/>
          </p:cNvSpPr>
          <p:nvPr>
            <p:ph type="ftr" sz="quarter" idx="3"/>
          </p:nvPr>
        </p:nvSpPr>
        <p:spPr bwMode="auto">
          <a:xfrm>
            <a:off x="12496800" y="26660475"/>
            <a:ext cx="11588750" cy="1949450"/>
          </a:xfrm>
          <a:prstGeom prst="rect">
            <a:avLst/>
          </a:prstGeom>
          <a:noFill/>
          <a:ln>
            <a:noFill/>
          </a:ln>
          <a:effectLst/>
        </p:spPr>
        <p:txBody>
          <a:bodyPr vert="horz" wrap="square" lIns="378815" tIns="189410" rIns="378815" bIns="189410" numCol="1" anchor="t" anchorCtr="0" compatLnSpc="1">
            <a:prstTxWarp prst="textNoShape">
              <a:avLst/>
            </a:prstTxWarp>
          </a:bodyPr>
          <a:lstStyle>
            <a:lvl1pPr algn="ctr" defTabSz="3762375">
              <a:defRPr sz="5800">
                <a:ea typeface="宋体" panose="02010600030101010101"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85ED83DC-C0F2-3266-B5FF-35A2241847E6}"/>
              </a:ext>
            </a:extLst>
          </p:cNvPr>
          <p:cNvSpPr>
            <a:spLocks noGrp="1" noChangeArrowheads="1"/>
          </p:cNvSpPr>
          <p:nvPr>
            <p:ph type="sldNum" sz="quarter" idx="4"/>
          </p:nvPr>
        </p:nvSpPr>
        <p:spPr bwMode="auto">
          <a:xfrm>
            <a:off x="26212800" y="26660475"/>
            <a:ext cx="7620000" cy="1949450"/>
          </a:xfrm>
          <a:prstGeom prst="rect">
            <a:avLst/>
          </a:prstGeom>
          <a:noFill/>
          <a:ln>
            <a:noFill/>
          </a:ln>
          <a:effectLst/>
        </p:spPr>
        <p:txBody>
          <a:bodyPr vert="horz" wrap="square" lIns="378815" tIns="189410" rIns="378815" bIns="189410" numCol="1" anchor="t" anchorCtr="0" compatLnSpc="1">
            <a:prstTxWarp prst="textNoShape">
              <a:avLst/>
            </a:prstTxWarp>
          </a:bodyPr>
          <a:lstStyle>
            <a:lvl1pPr algn="r" defTabSz="3762375">
              <a:defRPr sz="5800">
                <a:ea typeface="宋体" panose="02010600030101010101" pitchFamily="2" charset="-122"/>
              </a:defRPr>
            </a:lvl1pPr>
          </a:lstStyle>
          <a:p>
            <a:pPr>
              <a:defRPr/>
            </a:pPr>
            <a:fld id="{69F85A0D-3D1E-42C8-A714-902C3E86C32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762375" rtl="0" eaLnBrk="0" fontAlgn="base" hangingPunct="0">
        <a:spcBef>
          <a:spcPct val="0"/>
        </a:spcBef>
        <a:spcAft>
          <a:spcPct val="0"/>
        </a:spcAft>
        <a:defRPr sz="18500" kern="1200">
          <a:solidFill>
            <a:schemeClr val="tx2"/>
          </a:solidFill>
          <a:latin typeface="+mj-lt"/>
          <a:ea typeface="+mj-ea"/>
          <a:cs typeface="+mj-cs"/>
        </a:defRPr>
      </a:lvl1pPr>
      <a:lvl2pPr algn="ctr" defTabSz="3762375" rtl="0" eaLnBrk="0" fontAlgn="base" hangingPunct="0">
        <a:spcBef>
          <a:spcPct val="0"/>
        </a:spcBef>
        <a:spcAft>
          <a:spcPct val="0"/>
        </a:spcAft>
        <a:defRPr sz="18500">
          <a:solidFill>
            <a:schemeClr val="tx2"/>
          </a:solidFill>
          <a:latin typeface="Times New Roman" panose="02020603050405020304" pitchFamily="18" charset="0"/>
        </a:defRPr>
      </a:lvl2pPr>
      <a:lvl3pPr algn="ctr" defTabSz="3762375" rtl="0" eaLnBrk="0" fontAlgn="base" hangingPunct="0">
        <a:spcBef>
          <a:spcPct val="0"/>
        </a:spcBef>
        <a:spcAft>
          <a:spcPct val="0"/>
        </a:spcAft>
        <a:defRPr sz="18500">
          <a:solidFill>
            <a:schemeClr val="tx2"/>
          </a:solidFill>
          <a:latin typeface="Times New Roman" panose="02020603050405020304" pitchFamily="18" charset="0"/>
        </a:defRPr>
      </a:lvl3pPr>
      <a:lvl4pPr algn="ctr" defTabSz="3762375" rtl="0" eaLnBrk="0" fontAlgn="base" hangingPunct="0">
        <a:spcBef>
          <a:spcPct val="0"/>
        </a:spcBef>
        <a:spcAft>
          <a:spcPct val="0"/>
        </a:spcAft>
        <a:defRPr sz="18500">
          <a:solidFill>
            <a:schemeClr val="tx2"/>
          </a:solidFill>
          <a:latin typeface="Times New Roman" panose="02020603050405020304" pitchFamily="18" charset="0"/>
        </a:defRPr>
      </a:lvl4pPr>
      <a:lvl5pPr algn="ctr" defTabSz="3762375" rtl="0" eaLnBrk="0" fontAlgn="base" hangingPunct="0">
        <a:spcBef>
          <a:spcPct val="0"/>
        </a:spcBef>
        <a:spcAft>
          <a:spcPct val="0"/>
        </a:spcAft>
        <a:defRPr sz="18500">
          <a:solidFill>
            <a:schemeClr val="tx2"/>
          </a:solidFill>
          <a:latin typeface="Times New Roman" panose="02020603050405020304" pitchFamily="18" charset="0"/>
        </a:defRPr>
      </a:lvl5pPr>
      <a:lvl6pPr marL="457200" algn="ctr" defTabSz="3762375" rtl="0" eaLnBrk="0" fontAlgn="base" hangingPunct="0">
        <a:spcBef>
          <a:spcPct val="0"/>
        </a:spcBef>
        <a:spcAft>
          <a:spcPct val="0"/>
        </a:spcAft>
        <a:defRPr sz="18500">
          <a:solidFill>
            <a:schemeClr val="tx2"/>
          </a:solidFill>
          <a:latin typeface="Times New Roman" panose="02020603050405020304" pitchFamily="18" charset="0"/>
        </a:defRPr>
      </a:lvl6pPr>
      <a:lvl7pPr marL="914400" algn="ctr" defTabSz="3762375" rtl="0" eaLnBrk="0" fontAlgn="base" hangingPunct="0">
        <a:spcBef>
          <a:spcPct val="0"/>
        </a:spcBef>
        <a:spcAft>
          <a:spcPct val="0"/>
        </a:spcAft>
        <a:defRPr sz="18500">
          <a:solidFill>
            <a:schemeClr val="tx2"/>
          </a:solidFill>
          <a:latin typeface="Times New Roman" panose="02020603050405020304" pitchFamily="18" charset="0"/>
        </a:defRPr>
      </a:lvl7pPr>
      <a:lvl8pPr marL="1371600" algn="ctr" defTabSz="3762375" rtl="0" eaLnBrk="0" fontAlgn="base" hangingPunct="0">
        <a:spcBef>
          <a:spcPct val="0"/>
        </a:spcBef>
        <a:spcAft>
          <a:spcPct val="0"/>
        </a:spcAft>
        <a:defRPr sz="18500">
          <a:solidFill>
            <a:schemeClr val="tx2"/>
          </a:solidFill>
          <a:latin typeface="Times New Roman" panose="02020603050405020304" pitchFamily="18" charset="0"/>
        </a:defRPr>
      </a:lvl8pPr>
      <a:lvl9pPr marL="1828800" algn="ctr" defTabSz="3762375" rtl="0" eaLnBrk="0" fontAlgn="base" hangingPunct="0">
        <a:spcBef>
          <a:spcPct val="0"/>
        </a:spcBef>
        <a:spcAft>
          <a:spcPct val="0"/>
        </a:spcAft>
        <a:defRPr sz="18500">
          <a:solidFill>
            <a:schemeClr val="tx2"/>
          </a:solidFill>
          <a:latin typeface="Times New Roman" panose="02020603050405020304" pitchFamily="18" charset="0"/>
        </a:defRPr>
      </a:lvl9pPr>
    </p:titleStyle>
    <p:bodyStyle>
      <a:lvl1pPr marL="1411288" indent="-1411288" algn="l" defTabSz="3762375" rtl="0" eaLnBrk="0" fontAlgn="base" hangingPunct="0">
        <a:spcBef>
          <a:spcPct val="20000"/>
        </a:spcBef>
        <a:spcAft>
          <a:spcPct val="0"/>
        </a:spcAft>
        <a:buChar char="•"/>
        <a:defRPr sz="12800" kern="1200">
          <a:solidFill>
            <a:schemeClr val="tx1"/>
          </a:solidFill>
          <a:latin typeface="+mn-lt"/>
          <a:ea typeface="+mn-ea"/>
          <a:cs typeface="+mn-cs"/>
        </a:defRPr>
      </a:lvl1pPr>
      <a:lvl2pPr marL="3063875" indent="-1182688" algn="l" defTabSz="3762375" rtl="0" eaLnBrk="0" fontAlgn="base" hangingPunct="0">
        <a:spcBef>
          <a:spcPct val="20000"/>
        </a:spcBef>
        <a:spcAft>
          <a:spcPct val="0"/>
        </a:spcAft>
        <a:buChar char="–"/>
        <a:defRPr sz="11100" kern="1200">
          <a:solidFill>
            <a:schemeClr val="tx1"/>
          </a:solidFill>
          <a:latin typeface="+mn-lt"/>
          <a:ea typeface="+mn-ea"/>
          <a:cs typeface="+mn-cs"/>
        </a:defRPr>
      </a:lvl2pPr>
      <a:lvl3pPr marL="4695825" indent="-933450" algn="l" defTabSz="3762375" rtl="0" eaLnBrk="0" fontAlgn="base" hangingPunct="0">
        <a:spcBef>
          <a:spcPct val="20000"/>
        </a:spcBef>
        <a:spcAft>
          <a:spcPct val="0"/>
        </a:spcAft>
        <a:buChar char="•"/>
        <a:defRPr sz="9500" kern="1200">
          <a:solidFill>
            <a:schemeClr val="tx1"/>
          </a:solidFill>
          <a:latin typeface="+mn-lt"/>
          <a:ea typeface="+mn-ea"/>
          <a:cs typeface="+mn-cs"/>
        </a:defRPr>
      </a:lvl3pPr>
      <a:lvl4pPr marL="6577013" indent="-939800" algn="l" defTabSz="3762375" rtl="0" eaLnBrk="0" fontAlgn="base" hangingPunct="0">
        <a:spcBef>
          <a:spcPct val="20000"/>
        </a:spcBef>
        <a:spcAft>
          <a:spcPct val="0"/>
        </a:spcAft>
        <a:buChar char="–"/>
        <a:defRPr sz="7800" kern="1200">
          <a:solidFill>
            <a:schemeClr val="tx1"/>
          </a:solidFill>
          <a:latin typeface="+mn-lt"/>
          <a:ea typeface="+mn-ea"/>
          <a:cs typeface="+mn-cs"/>
        </a:defRPr>
      </a:lvl4pPr>
      <a:lvl5pPr marL="8458200" indent="-941388" algn="l" defTabSz="3762375" rtl="0" eaLnBrk="0" fontAlgn="base" hangingPunct="0">
        <a:spcBef>
          <a:spcPct val="20000"/>
        </a:spcBef>
        <a:spcAft>
          <a:spcPct val="0"/>
        </a:spcAft>
        <a:buChar char="»"/>
        <a:defRPr sz="7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image" Target="../media/image2.wmf"/><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oleObject" Target="../embeddings/oleObject1.bin"/><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3" name="Rectangle 507">
            <a:extLst>
              <a:ext uri="{FF2B5EF4-FFF2-40B4-BE49-F238E27FC236}">
                <a16:creationId xmlns:a16="http://schemas.microsoft.com/office/drawing/2014/main" id="{C1549CB2-E401-3C05-607E-E54ECFC12A95}"/>
              </a:ext>
            </a:extLst>
          </p:cNvPr>
          <p:cNvSpPr>
            <a:spLocks noChangeArrowheads="1"/>
          </p:cNvSpPr>
          <p:nvPr/>
        </p:nvSpPr>
        <p:spPr bwMode="auto">
          <a:xfrm>
            <a:off x="2828925" y="18275928"/>
            <a:ext cx="6537325" cy="103188"/>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598" name="Rectangle 502">
            <a:extLst>
              <a:ext uri="{FF2B5EF4-FFF2-40B4-BE49-F238E27FC236}">
                <a16:creationId xmlns:a16="http://schemas.microsoft.com/office/drawing/2014/main" id="{7B4B6940-7C25-D710-98D2-3BB5C2E109ED}"/>
              </a:ext>
            </a:extLst>
          </p:cNvPr>
          <p:cNvSpPr>
            <a:spLocks noChangeArrowheads="1"/>
          </p:cNvSpPr>
          <p:nvPr/>
        </p:nvSpPr>
        <p:spPr bwMode="auto">
          <a:xfrm>
            <a:off x="2827338" y="11737936"/>
            <a:ext cx="6538912" cy="103188"/>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597" name="Rectangle 501">
            <a:extLst>
              <a:ext uri="{FF2B5EF4-FFF2-40B4-BE49-F238E27FC236}">
                <a16:creationId xmlns:a16="http://schemas.microsoft.com/office/drawing/2014/main" id="{A901881E-5CAC-210B-8274-0485FE829911}"/>
              </a:ext>
            </a:extLst>
          </p:cNvPr>
          <p:cNvSpPr>
            <a:spLocks noChangeArrowheads="1"/>
          </p:cNvSpPr>
          <p:nvPr/>
        </p:nvSpPr>
        <p:spPr bwMode="auto">
          <a:xfrm>
            <a:off x="2827338" y="5226050"/>
            <a:ext cx="6538912" cy="103188"/>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101" name="Rectangle 4">
            <a:extLst>
              <a:ext uri="{FF2B5EF4-FFF2-40B4-BE49-F238E27FC236}">
                <a16:creationId xmlns:a16="http://schemas.microsoft.com/office/drawing/2014/main" id="{900E0109-BB42-DF83-0FCF-A1404954B7A0}"/>
              </a:ext>
            </a:extLst>
          </p:cNvPr>
          <p:cNvSpPr>
            <a:spLocks noChangeArrowheads="1"/>
          </p:cNvSpPr>
          <p:nvPr/>
        </p:nvSpPr>
        <p:spPr bwMode="auto">
          <a:xfrm>
            <a:off x="577850" y="623888"/>
            <a:ext cx="35420300" cy="27689175"/>
          </a:xfrm>
          <a:prstGeom prst="rect">
            <a:avLst/>
          </a:prstGeom>
          <a:noFill/>
          <a:ln w="635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102" name="Line 5">
            <a:extLst>
              <a:ext uri="{FF2B5EF4-FFF2-40B4-BE49-F238E27FC236}">
                <a16:creationId xmlns:a16="http://schemas.microsoft.com/office/drawing/2014/main" id="{2E70D25C-2DEA-00E7-6EE9-5755C49AA272}"/>
              </a:ext>
            </a:extLst>
          </p:cNvPr>
          <p:cNvSpPr>
            <a:spLocks noChangeShapeType="1"/>
          </p:cNvSpPr>
          <p:nvPr/>
        </p:nvSpPr>
        <p:spPr bwMode="auto">
          <a:xfrm>
            <a:off x="603250" y="4551363"/>
            <a:ext cx="35369500" cy="0"/>
          </a:xfrm>
          <a:prstGeom prst="line">
            <a:avLst/>
          </a:prstGeom>
          <a:noFill/>
          <a:ln w="635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04" name="Rectangle 156">
            <a:extLst>
              <a:ext uri="{FF2B5EF4-FFF2-40B4-BE49-F238E27FC236}">
                <a16:creationId xmlns:a16="http://schemas.microsoft.com/office/drawing/2014/main" id="{F1385F08-AAFC-FA74-2E84-5B2E7F9D1E22}"/>
              </a:ext>
            </a:extLst>
          </p:cNvPr>
          <p:cNvSpPr>
            <a:spLocks noChangeArrowheads="1"/>
          </p:cNvSpPr>
          <p:nvPr/>
        </p:nvSpPr>
        <p:spPr bwMode="auto">
          <a:xfrm>
            <a:off x="0" y="0"/>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pic>
        <p:nvPicPr>
          <p:cNvPr id="4105" name="Picture 173">
            <a:extLst>
              <a:ext uri="{FF2B5EF4-FFF2-40B4-BE49-F238E27FC236}">
                <a16:creationId xmlns:a16="http://schemas.microsoft.com/office/drawing/2014/main" id="{9546D85C-2FE8-87C2-F98B-22448598F2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76339" y="1265063"/>
            <a:ext cx="2874963"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 name="Text Box 178">
            <a:extLst>
              <a:ext uri="{FF2B5EF4-FFF2-40B4-BE49-F238E27FC236}">
                <a16:creationId xmlns:a16="http://schemas.microsoft.com/office/drawing/2014/main" id="{35252821-C0A5-6EBC-E03F-B6E8A0F480CF}"/>
              </a:ext>
            </a:extLst>
          </p:cNvPr>
          <p:cNvSpPr txBox="1">
            <a:spLocks noChangeArrowheads="1"/>
          </p:cNvSpPr>
          <p:nvPr/>
        </p:nvSpPr>
        <p:spPr bwMode="auto">
          <a:xfrm>
            <a:off x="6046788" y="1243233"/>
            <a:ext cx="270080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ctr">
              <a:spcBef>
                <a:spcPct val="50000"/>
              </a:spcBef>
            </a:pPr>
            <a:r>
              <a:rPr lang="en-US" sz="4800" dirty="0"/>
              <a:t>TRAFFIC FLOW PREDICTION USING MACHINE LEARNING AND DEEP LEARNING TECHNIQUES</a:t>
            </a:r>
            <a:endParaRPr lang="en-US" altLang="zh-CN" sz="4800" b="1" dirty="0">
              <a:ea typeface="宋体" panose="02010600030101010101" pitchFamily="2" charset="-122"/>
            </a:endParaRPr>
          </a:p>
        </p:txBody>
      </p:sp>
      <p:sp>
        <p:nvSpPr>
          <p:cNvPr id="4107" name="Text Box 227">
            <a:extLst>
              <a:ext uri="{FF2B5EF4-FFF2-40B4-BE49-F238E27FC236}">
                <a16:creationId xmlns:a16="http://schemas.microsoft.com/office/drawing/2014/main" id="{A0F7BEB7-7A4C-C477-6043-0EEB3BA1DE79}"/>
              </a:ext>
            </a:extLst>
          </p:cNvPr>
          <p:cNvSpPr txBox="1">
            <a:spLocks noChangeArrowheads="1"/>
          </p:cNvSpPr>
          <p:nvPr/>
        </p:nvSpPr>
        <p:spPr bwMode="auto">
          <a:xfrm>
            <a:off x="4249738" y="4792663"/>
            <a:ext cx="35052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a:ea typeface="宋体" panose="02010600030101010101" pitchFamily="2" charset="-122"/>
              </a:rPr>
              <a:t>Introduction</a:t>
            </a:r>
          </a:p>
        </p:txBody>
      </p:sp>
      <p:sp>
        <p:nvSpPr>
          <p:cNvPr id="4108" name="Text Box 228">
            <a:extLst>
              <a:ext uri="{FF2B5EF4-FFF2-40B4-BE49-F238E27FC236}">
                <a16:creationId xmlns:a16="http://schemas.microsoft.com/office/drawing/2014/main" id="{21B6296F-87C0-7681-9B32-7BBEBF3AFB82}"/>
              </a:ext>
            </a:extLst>
          </p:cNvPr>
          <p:cNvSpPr txBox="1">
            <a:spLocks noChangeArrowheads="1"/>
          </p:cNvSpPr>
          <p:nvPr/>
        </p:nvSpPr>
        <p:spPr bwMode="auto">
          <a:xfrm>
            <a:off x="3493294" y="17851593"/>
            <a:ext cx="52959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dirty="0">
                <a:ea typeface="宋体" panose="02010600030101010101" pitchFamily="2" charset="-122"/>
              </a:rPr>
              <a:t>Numerical Analysis</a:t>
            </a:r>
          </a:p>
        </p:txBody>
      </p:sp>
      <p:sp>
        <p:nvSpPr>
          <p:cNvPr id="4109" name="Line 229">
            <a:extLst>
              <a:ext uri="{FF2B5EF4-FFF2-40B4-BE49-F238E27FC236}">
                <a16:creationId xmlns:a16="http://schemas.microsoft.com/office/drawing/2014/main" id="{42CCCE5B-EC0E-54A2-666D-40C89B66010F}"/>
              </a:ext>
            </a:extLst>
          </p:cNvPr>
          <p:cNvSpPr>
            <a:spLocks noChangeShapeType="1"/>
          </p:cNvSpPr>
          <p:nvPr/>
        </p:nvSpPr>
        <p:spPr bwMode="auto">
          <a:xfrm>
            <a:off x="11704638" y="5219700"/>
            <a:ext cx="0" cy="21731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10" name="Line 231">
            <a:extLst>
              <a:ext uri="{FF2B5EF4-FFF2-40B4-BE49-F238E27FC236}">
                <a16:creationId xmlns:a16="http://schemas.microsoft.com/office/drawing/2014/main" id="{8ED6BEB1-5AC6-C745-04EB-F48151EE23BE}"/>
              </a:ext>
            </a:extLst>
          </p:cNvPr>
          <p:cNvSpPr>
            <a:spLocks noChangeShapeType="1"/>
          </p:cNvSpPr>
          <p:nvPr/>
        </p:nvSpPr>
        <p:spPr bwMode="auto">
          <a:xfrm>
            <a:off x="23696613" y="5275263"/>
            <a:ext cx="0" cy="217312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4111" name="Group 553">
            <a:extLst>
              <a:ext uri="{FF2B5EF4-FFF2-40B4-BE49-F238E27FC236}">
                <a16:creationId xmlns:a16="http://schemas.microsoft.com/office/drawing/2014/main" id="{695FC491-C376-F1E3-8FB7-CE90D9184864}"/>
              </a:ext>
            </a:extLst>
          </p:cNvPr>
          <p:cNvGrpSpPr>
            <a:grpSpLocks/>
          </p:cNvGrpSpPr>
          <p:nvPr/>
        </p:nvGrpSpPr>
        <p:grpSpPr bwMode="auto">
          <a:xfrm>
            <a:off x="26408738" y="25028042"/>
            <a:ext cx="6538912" cy="823912"/>
            <a:chOff x="17577" y="12279"/>
            <a:chExt cx="4119" cy="519"/>
          </a:xfrm>
        </p:grpSpPr>
        <p:sp>
          <p:nvSpPr>
            <p:cNvPr id="4648" name="Rectangle 552">
              <a:extLst>
                <a:ext uri="{FF2B5EF4-FFF2-40B4-BE49-F238E27FC236}">
                  <a16:creationId xmlns:a16="http://schemas.microsoft.com/office/drawing/2014/main" id="{E514C848-813B-1BA2-B487-48D053C034A6}"/>
                </a:ext>
              </a:extLst>
            </p:cNvPr>
            <p:cNvSpPr>
              <a:spLocks noChangeArrowheads="1"/>
            </p:cNvSpPr>
            <p:nvPr/>
          </p:nvSpPr>
          <p:spPr bwMode="auto">
            <a:xfrm>
              <a:off x="17577" y="12546"/>
              <a:ext cx="4119" cy="65"/>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181" name="Text Box 233">
              <a:extLst>
                <a:ext uri="{FF2B5EF4-FFF2-40B4-BE49-F238E27FC236}">
                  <a16:creationId xmlns:a16="http://schemas.microsoft.com/office/drawing/2014/main" id="{605E9DD4-AC0D-0626-059E-090220881DD8}"/>
                </a:ext>
              </a:extLst>
            </p:cNvPr>
            <p:cNvSpPr txBox="1">
              <a:spLocks noChangeArrowheads="1"/>
            </p:cNvSpPr>
            <p:nvPr/>
          </p:nvSpPr>
          <p:spPr bwMode="auto">
            <a:xfrm>
              <a:off x="18630" y="12279"/>
              <a:ext cx="2101"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i="1" dirty="0">
                  <a:ea typeface="宋体" panose="02010600030101010101" pitchFamily="2" charset="-122"/>
                </a:rPr>
                <a:t>Conclusions</a:t>
              </a:r>
            </a:p>
          </p:txBody>
        </p:sp>
      </p:grpSp>
      <p:sp>
        <p:nvSpPr>
          <p:cNvPr id="4112" name="Text Box 245">
            <a:extLst>
              <a:ext uri="{FF2B5EF4-FFF2-40B4-BE49-F238E27FC236}">
                <a16:creationId xmlns:a16="http://schemas.microsoft.com/office/drawing/2014/main" id="{B2719523-EF01-36E1-1FB6-082AAF77752A}"/>
              </a:ext>
            </a:extLst>
          </p:cNvPr>
          <p:cNvSpPr txBox="1">
            <a:spLocks noChangeArrowheads="1"/>
          </p:cNvSpPr>
          <p:nvPr/>
        </p:nvSpPr>
        <p:spPr bwMode="auto">
          <a:xfrm>
            <a:off x="668338" y="5738812"/>
            <a:ext cx="10947400" cy="5388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sz="2400" b="1" u="sng" dirty="0"/>
              <a:t>Context:</a:t>
            </a:r>
            <a:r>
              <a:rPr lang="en-US" sz="2400" dirty="0"/>
              <a:t> As cities grow, the number of vehicles on the road is rising fast, causing severe traffic jams. Traffic changes quickly and depends on both time and location, making it hard to predict. Using machine learning to accurately forecast traffic flow has become essential to manage roads smoothly and prevent gridlock before it happens.</a:t>
            </a:r>
          </a:p>
          <a:p>
            <a:endParaRPr lang="en-US" sz="2400" dirty="0"/>
          </a:p>
          <a:p>
            <a:r>
              <a:rPr lang="en-US" sz="2400" b="1" u="sng" dirty="0"/>
              <a:t>Project Objective:</a:t>
            </a:r>
            <a:r>
              <a:rPr lang="en-US" sz="2400" dirty="0"/>
              <a:t> To build and compare traditional machine learning models and deep learning models to find the best method for predicting traffic flow.</a:t>
            </a:r>
          </a:p>
          <a:p>
            <a:endParaRPr lang="en-US" sz="2400" dirty="0"/>
          </a:p>
          <a:p>
            <a:r>
              <a:rPr lang="en-US" sz="2400" b="1" u="sng" dirty="0"/>
              <a:t>Core Focus:</a:t>
            </a:r>
            <a:r>
              <a:rPr lang="en-US" sz="2400" dirty="0"/>
              <a:t> Building an accurate predictor to forecast the fundamental characteristics of traffic such as flow, density and speed.</a:t>
            </a:r>
          </a:p>
          <a:p>
            <a:endParaRPr lang="en-US" sz="2400" b="1" u="sng" dirty="0"/>
          </a:p>
          <a:p>
            <a:r>
              <a:rPr lang="en-US" sz="2400" b="1" u="sng" dirty="0"/>
              <a:t>Methodology:</a:t>
            </a:r>
            <a:r>
              <a:rPr lang="en-US" sz="2400" dirty="0"/>
              <a:t> The project implements and evaluates both traditional learning models such as Naïve Baseline, Moving Average, Random Forest and Support Vector Machine and deep learning models such as LSTM using historical traffic data.</a:t>
            </a:r>
            <a:endParaRPr lang="en-US" sz="2400" b="1" u="sng" dirty="0"/>
          </a:p>
          <a:p>
            <a:endParaRPr lang="en-US" sz="2000" dirty="0"/>
          </a:p>
        </p:txBody>
      </p:sp>
      <p:sp>
        <p:nvSpPr>
          <p:cNvPr id="4113" name="Text Box 246">
            <a:extLst>
              <a:ext uri="{FF2B5EF4-FFF2-40B4-BE49-F238E27FC236}">
                <a16:creationId xmlns:a16="http://schemas.microsoft.com/office/drawing/2014/main" id="{5D21CD02-A201-0E00-99E6-D0D39818F55B}"/>
              </a:ext>
            </a:extLst>
          </p:cNvPr>
          <p:cNvSpPr txBox="1">
            <a:spLocks noChangeArrowheads="1"/>
          </p:cNvSpPr>
          <p:nvPr/>
        </p:nvSpPr>
        <p:spPr bwMode="auto">
          <a:xfrm>
            <a:off x="703263" y="12242694"/>
            <a:ext cx="1078706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lvl="0"/>
            <a:r>
              <a:rPr lang="en-IN" sz="2400" b="1" dirty="0"/>
              <a:t>Data Collection and Preprocessing:</a:t>
            </a:r>
            <a:r>
              <a:rPr lang="en-IN" sz="2400" dirty="0"/>
              <a:t> Gathering raw traffic data, filtering it to focus on a single sensor (one specific road), and converting timestamps into seconds.</a:t>
            </a:r>
          </a:p>
          <a:p>
            <a:pPr lvl="0"/>
            <a:endParaRPr lang="en-IN" sz="2400" dirty="0"/>
          </a:p>
          <a:p>
            <a:pPr lvl="0"/>
            <a:r>
              <a:rPr lang="en-IN" sz="2400" b="1" dirty="0"/>
              <a:t>Feature Extraction:</a:t>
            </a:r>
            <a:r>
              <a:rPr lang="en-IN" sz="2400" dirty="0"/>
              <a:t> Grouping the data into 150-second intervals to calculate fundamental traffic characteristics (flow, density, and average speed).</a:t>
            </a:r>
          </a:p>
          <a:p>
            <a:pPr lvl="0"/>
            <a:endParaRPr lang="en-IN" sz="2400" dirty="0"/>
          </a:p>
          <a:p>
            <a:pPr lvl="0"/>
            <a:r>
              <a:rPr lang="en-IN" sz="2400" b="1" dirty="0"/>
              <a:t>Model Implementation:</a:t>
            </a:r>
            <a:r>
              <a:rPr lang="en-IN" sz="2400" dirty="0"/>
              <a:t> Preparing the processed data and feeding it into the selected traditional machine learning and deep learning models.</a:t>
            </a:r>
          </a:p>
          <a:p>
            <a:pPr lvl="0"/>
            <a:endParaRPr lang="en-IN" sz="2400" dirty="0"/>
          </a:p>
          <a:p>
            <a:pPr lvl="0"/>
            <a:r>
              <a:rPr lang="en-IN" sz="2400" b="1" dirty="0"/>
              <a:t>Hyperparameter Tuning:</a:t>
            </a:r>
            <a:r>
              <a:rPr lang="en-IN" sz="2400" dirty="0"/>
              <a:t> Fine-tuning the parameters of the models to optimize their performance.</a:t>
            </a:r>
          </a:p>
          <a:p>
            <a:pPr lvl="0"/>
            <a:endParaRPr lang="en-IN" sz="2400" dirty="0"/>
          </a:p>
          <a:p>
            <a:pPr lvl="0"/>
            <a:r>
              <a:rPr lang="en-IN" sz="2400" b="1" dirty="0"/>
              <a:t>Performance Evaluation:</a:t>
            </a:r>
            <a:r>
              <a:rPr lang="en-IN" sz="2400" dirty="0"/>
              <a:t> Comparing the models against each other using key metrics, including RMSE, MAE, Hit Ratio, and computational time taken.</a:t>
            </a:r>
          </a:p>
        </p:txBody>
      </p:sp>
      <p:sp>
        <p:nvSpPr>
          <p:cNvPr id="4114" name="Text Box 247">
            <a:extLst>
              <a:ext uri="{FF2B5EF4-FFF2-40B4-BE49-F238E27FC236}">
                <a16:creationId xmlns:a16="http://schemas.microsoft.com/office/drawing/2014/main" id="{4DD1134D-DB8F-279A-C058-5AC1D9A2004C}"/>
              </a:ext>
            </a:extLst>
          </p:cNvPr>
          <p:cNvSpPr txBox="1">
            <a:spLocks noChangeArrowheads="1"/>
          </p:cNvSpPr>
          <p:nvPr/>
        </p:nvSpPr>
        <p:spPr bwMode="auto">
          <a:xfrm>
            <a:off x="5164138" y="11303747"/>
            <a:ext cx="17653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dirty="0">
                <a:ea typeface="宋体" panose="02010600030101010101" pitchFamily="2" charset="-122"/>
              </a:rPr>
              <a:t>Scope</a:t>
            </a:r>
          </a:p>
        </p:txBody>
      </p:sp>
      <p:sp>
        <p:nvSpPr>
          <p:cNvPr id="4115" name="Text Box 620">
            <a:extLst>
              <a:ext uri="{FF2B5EF4-FFF2-40B4-BE49-F238E27FC236}">
                <a16:creationId xmlns:a16="http://schemas.microsoft.com/office/drawing/2014/main" id="{FBF028ED-24F7-0232-DBBD-790A78D1A40F}"/>
              </a:ext>
            </a:extLst>
          </p:cNvPr>
          <p:cNvSpPr txBox="1">
            <a:spLocks noChangeArrowheads="1"/>
          </p:cNvSpPr>
          <p:nvPr/>
        </p:nvSpPr>
        <p:spPr bwMode="auto">
          <a:xfrm>
            <a:off x="27751088" y="2351405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zh-CN" altLang="en-US" sz="2000">
              <a:ea typeface="宋体" panose="02010600030101010101" pitchFamily="2" charset="-122"/>
            </a:endParaRPr>
          </a:p>
        </p:txBody>
      </p:sp>
      <p:sp>
        <p:nvSpPr>
          <p:cNvPr id="4118" name="Text Box 625">
            <a:extLst>
              <a:ext uri="{FF2B5EF4-FFF2-40B4-BE49-F238E27FC236}">
                <a16:creationId xmlns:a16="http://schemas.microsoft.com/office/drawing/2014/main" id="{7ACCEC46-A905-8336-E820-0B927CA6032F}"/>
              </a:ext>
            </a:extLst>
          </p:cNvPr>
          <p:cNvSpPr txBox="1">
            <a:spLocks noChangeArrowheads="1"/>
          </p:cNvSpPr>
          <p:nvPr/>
        </p:nvSpPr>
        <p:spPr bwMode="auto">
          <a:xfrm>
            <a:off x="669131" y="18857034"/>
            <a:ext cx="10821193" cy="306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sz="2400" b="1" u="sng" dirty="0"/>
              <a:t>Data and Setup Specifications:</a:t>
            </a:r>
          </a:p>
          <a:p>
            <a:endParaRPr lang="en-US" sz="2400" b="1" dirty="0"/>
          </a:p>
          <a:p>
            <a:r>
              <a:rPr lang="en-IN" sz="2400" b="1" dirty="0"/>
              <a:t>• </a:t>
            </a:r>
            <a:r>
              <a:rPr lang="en-US" sz="2400" b="1" u="sng" dirty="0"/>
              <a:t>Dataset Focus:</a:t>
            </a:r>
            <a:r>
              <a:rPr lang="en-US" sz="2400" u="sng" dirty="0"/>
              <a:t> </a:t>
            </a:r>
            <a:r>
              <a:rPr lang="en-US" sz="2400" dirty="0"/>
              <a:t>Single-sensor traffic data (one specific road).</a:t>
            </a:r>
          </a:p>
          <a:p>
            <a:endParaRPr lang="en-US" sz="2400" dirty="0"/>
          </a:p>
          <a:p>
            <a:r>
              <a:rPr lang="en-IN" sz="2400" b="1" dirty="0"/>
              <a:t>• </a:t>
            </a:r>
            <a:r>
              <a:rPr lang="en-US" sz="2400" b="1" u="sng" dirty="0"/>
              <a:t>Time Resolution:</a:t>
            </a:r>
            <a:r>
              <a:rPr lang="en-US" sz="2400" u="sng" dirty="0"/>
              <a:t> </a:t>
            </a:r>
            <a:r>
              <a:rPr lang="en-US" sz="2400" dirty="0"/>
              <a:t>Raw timestamps converted to seconds, aggregated into 150-second intervals and 300-second intervals.</a:t>
            </a:r>
          </a:p>
          <a:p>
            <a:endParaRPr lang="en-US" sz="2400" dirty="0"/>
          </a:p>
          <a:p>
            <a:r>
              <a:rPr lang="en-IN" sz="2400" b="1" dirty="0"/>
              <a:t>• </a:t>
            </a:r>
            <a:r>
              <a:rPr lang="en-US" sz="2400" b="1" u="sng" dirty="0"/>
              <a:t>Target Features:</a:t>
            </a:r>
            <a:r>
              <a:rPr lang="en-US" sz="2400" u="sng" dirty="0"/>
              <a:t> </a:t>
            </a:r>
            <a:r>
              <a:rPr lang="en-US" sz="2400" dirty="0"/>
              <a:t>Fundamental traffic characteristics (Flow, Density, and Speed).</a:t>
            </a:r>
          </a:p>
        </p:txBody>
      </p:sp>
      <p:graphicFrame>
        <p:nvGraphicFramePr>
          <p:cNvPr id="4120" name="Object 629">
            <a:extLst>
              <a:ext uri="{FF2B5EF4-FFF2-40B4-BE49-F238E27FC236}">
                <a16:creationId xmlns:a16="http://schemas.microsoft.com/office/drawing/2014/main" id="{73F43B77-799E-986C-BC12-EF719EB7F568}"/>
              </a:ext>
            </a:extLst>
          </p:cNvPr>
          <p:cNvGraphicFramePr>
            <a:graphicFrameLocks noChangeAspect="1"/>
          </p:cNvGraphicFramePr>
          <p:nvPr/>
        </p:nvGraphicFramePr>
        <p:xfrm>
          <a:off x="18495963" y="20142200"/>
          <a:ext cx="165100" cy="165100"/>
        </p:xfrm>
        <a:graphic>
          <a:graphicData uri="http://schemas.openxmlformats.org/presentationml/2006/ole">
            <mc:AlternateContent xmlns:mc="http://schemas.openxmlformats.org/markup-compatibility/2006">
              <mc:Choice xmlns:v="urn:schemas-microsoft-com:vml" Requires="v">
                <p:oleObj name="Equation" r:id="rId4" imgW="164885" imgH="164885" progId="Equation.3">
                  <p:embed/>
                </p:oleObj>
              </mc:Choice>
              <mc:Fallback>
                <p:oleObj name="Equation" r:id="rId4" imgW="164885" imgH="164885" progId="Equation.3">
                  <p:embed/>
                  <p:pic>
                    <p:nvPicPr>
                      <p:cNvPr id="0" name="Object 6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95963" y="20142200"/>
                        <a:ext cx="165100"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1" name="Rectangle 632">
            <a:extLst>
              <a:ext uri="{FF2B5EF4-FFF2-40B4-BE49-F238E27FC236}">
                <a16:creationId xmlns:a16="http://schemas.microsoft.com/office/drawing/2014/main" id="{FDCD8114-D4DF-D994-97B0-4864DDFACB7C}"/>
              </a:ext>
            </a:extLst>
          </p:cNvPr>
          <p:cNvSpPr>
            <a:spLocks noChangeArrowheads="1"/>
          </p:cNvSpPr>
          <p:nvPr/>
        </p:nvSpPr>
        <p:spPr bwMode="auto">
          <a:xfrm>
            <a:off x="18154650" y="14516100"/>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731" name="Rectangle 635">
            <a:extLst>
              <a:ext uri="{FF2B5EF4-FFF2-40B4-BE49-F238E27FC236}">
                <a16:creationId xmlns:a16="http://schemas.microsoft.com/office/drawing/2014/main" id="{AFD7FA93-19A5-7B01-F872-B40100CF7DB4}"/>
              </a:ext>
            </a:extLst>
          </p:cNvPr>
          <p:cNvSpPr>
            <a:spLocks noChangeArrowheads="1"/>
          </p:cNvSpPr>
          <p:nvPr/>
        </p:nvSpPr>
        <p:spPr bwMode="auto">
          <a:xfrm>
            <a:off x="14426170" y="25608267"/>
            <a:ext cx="6538912" cy="103187"/>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123" name="Text Box 636">
            <a:extLst>
              <a:ext uri="{FF2B5EF4-FFF2-40B4-BE49-F238E27FC236}">
                <a16:creationId xmlns:a16="http://schemas.microsoft.com/office/drawing/2014/main" id="{8DB7E679-E990-AD82-4FB6-07897FC25FA1}"/>
              </a:ext>
            </a:extLst>
          </p:cNvPr>
          <p:cNvSpPr txBox="1">
            <a:spLocks noChangeArrowheads="1"/>
          </p:cNvSpPr>
          <p:nvPr/>
        </p:nvSpPr>
        <p:spPr bwMode="auto">
          <a:xfrm>
            <a:off x="14639689" y="25119345"/>
            <a:ext cx="61118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dirty="0">
                <a:ea typeface="宋体" panose="02010600030101010101" pitchFamily="2" charset="-122"/>
              </a:rPr>
              <a:t>Results and Discussion</a:t>
            </a:r>
          </a:p>
        </p:txBody>
      </p:sp>
      <p:sp>
        <p:nvSpPr>
          <p:cNvPr id="4124" name="Rectangle 732">
            <a:extLst>
              <a:ext uri="{FF2B5EF4-FFF2-40B4-BE49-F238E27FC236}">
                <a16:creationId xmlns:a16="http://schemas.microsoft.com/office/drawing/2014/main" id="{D559D857-601F-AB6D-858B-5FCB9361F94A}"/>
              </a:ext>
            </a:extLst>
          </p:cNvPr>
          <p:cNvSpPr>
            <a:spLocks noChangeArrowheads="1"/>
          </p:cNvSpPr>
          <p:nvPr/>
        </p:nvSpPr>
        <p:spPr bwMode="auto">
          <a:xfrm>
            <a:off x="17611725" y="14387513"/>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126" name="Text Box 737">
            <a:extLst>
              <a:ext uri="{FF2B5EF4-FFF2-40B4-BE49-F238E27FC236}">
                <a16:creationId xmlns:a16="http://schemas.microsoft.com/office/drawing/2014/main" id="{ECB7E4A9-F105-0646-4AD1-F6F44F2B2A4C}"/>
              </a:ext>
            </a:extLst>
          </p:cNvPr>
          <p:cNvSpPr txBox="1">
            <a:spLocks noChangeArrowheads="1"/>
          </p:cNvSpPr>
          <p:nvPr/>
        </p:nvSpPr>
        <p:spPr bwMode="auto">
          <a:xfrm>
            <a:off x="11845132" y="25946964"/>
            <a:ext cx="117109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sz="2400" dirty="0"/>
              <a:t>Following is the performance of each model with the given configuration on the dataset, evaluated across sequential cross-validation folds to ensure temporal stability:</a:t>
            </a:r>
            <a:endParaRPr lang="en-US" sz="2400" dirty="0">
              <a:effectLst/>
            </a:endParaRPr>
          </a:p>
        </p:txBody>
      </p:sp>
      <p:sp>
        <p:nvSpPr>
          <p:cNvPr id="4129" name="Text Box 742">
            <a:extLst>
              <a:ext uri="{FF2B5EF4-FFF2-40B4-BE49-F238E27FC236}">
                <a16:creationId xmlns:a16="http://schemas.microsoft.com/office/drawing/2014/main" id="{778B2DA2-68C1-EFA8-BCC5-4DCEC3167251}"/>
              </a:ext>
            </a:extLst>
          </p:cNvPr>
          <p:cNvSpPr txBox="1">
            <a:spLocks noChangeArrowheads="1"/>
          </p:cNvSpPr>
          <p:nvPr/>
        </p:nvSpPr>
        <p:spPr bwMode="auto">
          <a:xfrm>
            <a:off x="23812709" y="25778030"/>
            <a:ext cx="1201896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sz="2000" dirty="0"/>
              <a:t>The traffic flow prediction project successfully demonstrated that both traditional machine learning and deep learning models can effectively forecast urban traffic characteristics. SVM emerged as the best-performing model overall, achieving the lowest RMSE (4.607) and MAE (3.3294) alongside the highest Hit Ratio (71.11%), outperforming all other models including LSTM. This demonstrates that for single-sensor, limited-horizon traffic prediction, well-tuned classical models can match or exceed deep learning approaches. LSTM, while underperforming in this setup, shows a clear improvement trend with increasing hidden units, suggesting that with a larger dataset, more training epochs, and finer tuning, it can surpass classical models.</a:t>
            </a:r>
          </a:p>
          <a:p>
            <a:endParaRPr lang="en-US" sz="2000" dirty="0">
              <a:effectLst/>
            </a:endParaRPr>
          </a:p>
        </p:txBody>
      </p:sp>
      <p:sp>
        <p:nvSpPr>
          <p:cNvPr id="4130" name="Text Box 743">
            <a:extLst>
              <a:ext uri="{FF2B5EF4-FFF2-40B4-BE49-F238E27FC236}">
                <a16:creationId xmlns:a16="http://schemas.microsoft.com/office/drawing/2014/main" id="{9D6F8203-0881-65A3-787E-21675B0B4DE9}"/>
              </a:ext>
            </a:extLst>
          </p:cNvPr>
          <p:cNvSpPr txBox="1">
            <a:spLocks noChangeArrowheads="1"/>
          </p:cNvSpPr>
          <p:nvPr/>
        </p:nvSpPr>
        <p:spPr bwMode="auto">
          <a:xfrm>
            <a:off x="5200969" y="2267646"/>
            <a:ext cx="2617406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ctr">
              <a:tabLst>
                <a:tab pos="2637155" algn="ctr"/>
                <a:tab pos="5274310" algn="r"/>
              </a:tabLst>
            </a:pPr>
            <a:r>
              <a:rPr lang="en-US" sz="4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Professional Association For Civil Engineering, </a:t>
            </a:r>
            <a:r>
              <a:rPr kumimoji="0" lang="en-US" altLang="en-US" sz="4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NITK </a:t>
            </a:r>
            <a:r>
              <a:rPr lang="en-IN" altLang="en-US" sz="4800" dirty="0">
                <a:solidFill>
                  <a:srgbClr val="000000"/>
                </a:solidFill>
              </a:rPr>
              <a:t>Surathkal</a:t>
            </a:r>
            <a:endParaRPr lang="en-US" altLang="en-US" sz="4800" dirty="0">
              <a:solidFill>
                <a:srgbClr val="474747"/>
              </a:solidFill>
              <a:cs typeface="Times New Roman" panose="02020603050405020304" pitchFamily="18" charset="0"/>
            </a:endParaRPr>
          </a:p>
          <a:p>
            <a:pPr algn="ctr"/>
            <a:r>
              <a:rPr lang="en-IN" altLang="en-US" sz="4800" b="1" dirty="0"/>
              <a:t>Mentor:</a:t>
            </a:r>
            <a:r>
              <a:rPr lang="en-IN" altLang="en-US" sz="4800" dirty="0"/>
              <a:t> </a:t>
            </a:r>
            <a:r>
              <a:rPr lang="en-IN" sz="4800" dirty="0"/>
              <a:t>Priyanshu, Muskan.</a:t>
            </a:r>
            <a:br>
              <a:rPr lang="en-IN" altLang="en-US" sz="4800" dirty="0"/>
            </a:br>
            <a:r>
              <a:rPr lang="en-IN" altLang="en-US" sz="4800" b="1" dirty="0"/>
              <a:t>Mentees:</a:t>
            </a:r>
            <a:r>
              <a:rPr lang="en-IN" altLang="en-US" sz="4800" dirty="0"/>
              <a:t> </a:t>
            </a:r>
            <a:r>
              <a:rPr lang="en-IN" sz="4800" dirty="0" err="1"/>
              <a:t>Gurubasava</a:t>
            </a:r>
            <a:r>
              <a:rPr lang="en-IN" sz="4800" dirty="0"/>
              <a:t>, Abraham, Kolluru, Neelkanth, Abhishek. </a:t>
            </a:r>
            <a:endParaRPr lang="en-US" altLang="zh-CN" sz="4800" dirty="0">
              <a:ea typeface="宋体" panose="02010600030101010101" pitchFamily="2" charset="-122"/>
            </a:endParaRPr>
          </a:p>
        </p:txBody>
      </p:sp>
      <p:pic>
        <p:nvPicPr>
          <p:cNvPr id="3" name="Picture 2">
            <a:extLst>
              <a:ext uri="{FF2B5EF4-FFF2-40B4-BE49-F238E27FC236}">
                <a16:creationId xmlns:a16="http://schemas.microsoft.com/office/drawing/2014/main" id="{5BBBB918-ADAD-39A7-197C-429A85F4857E}"/>
              </a:ext>
            </a:extLst>
          </p:cNvPr>
          <p:cNvPicPr>
            <a:picLocks noChangeAspect="1"/>
          </p:cNvPicPr>
          <p:nvPr/>
        </p:nvPicPr>
        <p:blipFill>
          <a:blip r:embed="rId6">
            <a:extLst>
              <a:ext uri="{28A0092B-C50C-407E-A947-70E740481C1C}">
                <a14:useLocalDpi xmlns:a14="http://schemas.microsoft.com/office/drawing/2010/main" val="0"/>
              </a:ext>
            </a:extLst>
          </a:blip>
          <a:srcRect l="5911" t="33688" r="4453" b="32552"/>
          <a:stretch>
            <a:fillRect/>
          </a:stretch>
        </p:blipFill>
        <p:spPr>
          <a:xfrm>
            <a:off x="703263" y="1218105"/>
            <a:ext cx="5464176" cy="2815103"/>
          </a:xfrm>
          <a:prstGeom prst="rect">
            <a:avLst/>
          </a:prstGeom>
        </p:spPr>
      </p:pic>
      <p:sp>
        <p:nvSpPr>
          <p:cNvPr id="2" name="TextBox 1">
            <a:extLst>
              <a:ext uri="{FF2B5EF4-FFF2-40B4-BE49-F238E27FC236}">
                <a16:creationId xmlns:a16="http://schemas.microsoft.com/office/drawing/2014/main" id="{F449887C-CD1C-367C-5483-FCF237120940}"/>
              </a:ext>
            </a:extLst>
          </p:cNvPr>
          <p:cNvSpPr txBox="1"/>
          <p:nvPr/>
        </p:nvSpPr>
        <p:spPr>
          <a:xfrm>
            <a:off x="11845132" y="5067970"/>
            <a:ext cx="11710979" cy="20036254"/>
          </a:xfrm>
          <a:prstGeom prst="rect">
            <a:avLst/>
          </a:prstGeom>
          <a:noFill/>
        </p:spPr>
        <p:txBody>
          <a:bodyPr wrap="square" rtlCol="0">
            <a:spAutoFit/>
          </a:bodyPr>
          <a:lstStyle/>
          <a:p>
            <a:r>
              <a:rPr lang="en-IN" sz="2400" b="1" u="sng" dirty="0"/>
              <a:t>Traditional ML and Deep Learning Models:</a:t>
            </a:r>
          </a:p>
          <a:p>
            <a:endParaRPr lang="en-US" sz="2400" b="1" u="sng" dirty="0"/>
          </a:p>
          <a:p>
            <a:r>
              <a:rPr lang="en-IN" sz="2400" b="1" dirty="0"/>
              <a:t>•</a:t>
            </a:r>
            <a:r>
              <a:rPr lang="en-IN" sz="2400" b="1" u="sng" dirty="0"/>
              <a:t>Naïve Baseline:</a:t>
            </a:r>
            <a:r>
              <a:rPr lang="en-IN" sz="2400" dirty="0"/>
              <a:t> Simplest approach using the last known value as the prediction.</a:t>
            </a:r>
          </a:p>
          <a:p>
            <a:endParaRPr lang="en-IN" sz="2400" dirty="0"/>
          </a:p>
          <a:p>
            <a:endParaRPr lang="en-IN" sz="2400" b="1" dirty="0"/>
          </a:p>
          <a:p>
            <a:endParaRPr lang="en-IN" sz="2400" b="1" dirty="0"/>
          </a:p>
          <a:p>
            <a:endParaRPr lang="en-IN" sz="2400" b="1" dirty="0"/>
          </a:p>
          <a:p>
            <a:r>
              <a:rPr lang="en-IN" sz="2400" b="1" dirty="0"/>
              <a:t>•</a:t>
            </a:r>
            <a:r>
              <a:rPr lang="en-IN" sz="2400" b="1" u="sng" dirty="0"/>
              <a:t>Moving Average:</a:t>
            </a:r>
            <a:r>
              <a:rPr lang="en-IN" sz="2400" dirty="0"/>
              <a:t> Uses the average over a set window size of past values as the prediction.</a:t>
            </a:r>
          </a:p>
          <a:p>
            <a:endParaRPr lang="en-US" sz="2400" b="1" u="sng" dirty="0"/>
          </a:p>
          <a:p>
            <a:endParaRPr lang="en-US" sz="2400" b="1" u="sng" dirty="0"/>
          </a:p>
          <a:p>
            <a:endParaRPr lang="en-US" sz="2400" b="1" u="sng" dirty="0"/>
          </a:p>
          <a:p>
            <a:endParaRPr lang="en-US" sz="2400" b="1" u="sng" dirty="0"/>
          </a:p>
          <a:p>
            <a:r>
              <a:rPr lang="en-IN" sz="2400" b="1" dirty="0"/>
              <a:t>•</a:t>
            </a:r>
            <a:r>
              <a:rPr lang="en-IN" sz="2400" b="1" u="sng" dirty="0"/>
              <a:t>Random Forest:</a:t>
            </a:r>
            <a:r>
              <a:rPr lang="en-IN" sz="2400" b="1" dirty="0"/>
              <a:t> </a:t>
            </a:r>
            <a:r>
              <a:rPr lang="en-US" sz="2400" dirty="0"/>
              <a:t>Builds many decision trees on random subsets of data and averages their predictions to forecast traffic flow</a:t>
            </a:r>
          </a:p>
          <a:p>
            <a:endParaRPr lang="en-US" sz="2400" b="1" u="sng" dirty="0"/>
          </a:p>
          <a:p>
            <a:endParaRPr lang="en-US" sz="2400" b="1" u="sng" dirty="0"/>
          </a:p>
          <a:p>
            <a:endParaRPr lang="en-US" sz="2400" b="1" u="sng" dirty="0"/>
          </a:p>
          <a:p>
            <a:endParaRPr lang="en-US" sz="2400" b="1" u="sng" dirty="0"/>
          </a:p>
          <a:p>
            <a:endParaRPr lang="en-US" sz="2400" b="1" u="sng" dirty="0"/>
          </a:p>
          <a:p>
            <a:endParaRPr lang="en-US" sz="2400" b="1" u="sng" dirty="0"/>
          </a:p>
          <a:p>
            <a:endParaRPr lang="en-US" sz="2400" b="1" u="sng" dirty="0"/>
          </a:p>
          <a:p>
            <a:endParaRPr lang="en-US" sz="2400" b="1" u="sng" dirty="0"/>
          </a:p>
          <a:p>
            <a:r>
              <a:rPr lang="en-IN" sz="2400" b="1" dirty="0"/>
              <a:t>• </a:t>
            </a:r>
            <a:r>
              <a:rPr lang="en-US" sz="2400" b="1" u="sng" dirty="0"/>
              <a:t>Support Vector Machine:</a:t>
            </a:r>
            <a:r>
              <a:rPr lang="en-US" sz="2400" b="1" dirty="0"/>
              <a:t> </a:t>
            </a:r>
            <a:r>
              <a:rPr lang="en-US" sz="2400" dirty="0"/>
              <a:t>SVR finds a regression function within a defined margin (epsilon-tube), optimizing to minimize prediction error while controlling model complexity</a:t>
            </a:r>
            <a:endParaRPr lang="en-US" sz="2400" b="1" u="sng" dirty="0"/>
          </a:p>
          <a:p>
            <a:endParaRPr lang="en-US" sz="2400" b="1" u="sng" dirty="0"/>
          </a:p>
          <a:p>
            <a:endParaRPr lang="en-US" sz="2400" b="1" u="sng" dirty="0"/>
          </a:p>
          <a:p>
            <a:endParaRPr lang="en-US" sz="2400" b="1" u="sng" dirty="0"/>
          </a:p>
          <a:p>
            <a:endParaRPr lang="en-IN" sz="2400" b="1" dirty="0"/>
          </a:p>
          <a:p>
            <a:r>
              <a:rPr lang="en-IN" sz="2400" b="1" dirty="0"/>
              <a:t>•</a:t>
            </a:r>
            <a:r>
              <a:rPr lang="en-IN" sz="2400" b="1" u="sng" dirty="0"/>
              <a:t>LSTM:</a:t>
            </a:r>
            <a:r>
              <a:rPr lang="en-IN" sz="2400" dirty="0"/>
              <a:t> </a:t>
            </a:r>
            <a:r>
              <a:rPr lang="en-US" sz="2400" dirty="0"/>
              <a:t>LSTM uses gating mechanisms to selectively retain or discard information across time steps, enabling it to capture long-range temporal dependencies in sequential data.</a:t>
            </a:r>
            <a:endParaRPr lang="en-US" sz="2400" b="1" dirty="0"/>
          </a:p>
          <a:p>
            <a:endParaRPr lang="en-US" sz="2400" b="1" dirty="0"/>
          </a:p>
          <a:p>
            <a:endParaRPr lang="en-IN" sz="2400" b="1" dirty="0"/>
          </a:p>
          <a:p>
            <a:endParaRPr lang="en-US" sz="2400" b="1" u="sng" dirty="0"/>
          </a:p>
          <a:p>
            <a:endParaRPr lang="en-US" sz="2400" b="1" u="sng" dirty="0"/>
          </a:p>
          <a:p>
            <a:endParaRPr lang="en-US" sz="2400" b="1" u="sng" dirty="0"/>
          </a:p>
          <a:p>
            <a:endParaRPr lang="en-US" sz="2400" b="1" u="sng" dirty="0"/>
          </a:p>
          <a:p>
            <a:endParaRPr lang="en-US" sz="2400" b="1" u="sng" dirty="0"/>
          </a:p>
          <a:p>
            <a:endParaRPr lang="en-US" sz="2400" b="1" u="sng" dirty="0"/>
          </a:p>
          <a:p>
            <a:endParaRPr lang="en-US" sz="2400" b="1" u="sng" dirty="0"/>
          </a:p>
          <a:p>
            <a:endParaRPr lang="en-US" sz="2400" b="1" u="sng" dirty="0"/>
          </a:p>
          <a:p>
            <a:r>
              <a:rPr lang="en-US" sz="2400" b="1" u="sng" dirty="0"/>
              <a:t>Evaluation Metrics &amp; Model Comparison: </a:t>
            </a:r>
          </a:p>
          <a:p>
            <a:r>
              <a:rPr lang="en-US" sz="2400" dirty="0"/>
              <a:t>To determine the superior forecasting method, the models were evaluated and compared across four critical dimensions:</a:t>
            </a:r>
          </a:p>
          <a:p>
            <a:endParaRPr lang="en-US" sz="2400" dirty="0"/>
          </a:p>
          <a:p>
            <a:r>
              <a:rPr lang="en-US" sz="2400" b="1" u="sng" dirty="0"/>
              <a:t>Root Mean Squared Error (RMSE):</a:t>
            </a:r>
            <a:r>
              <a:rPr lang="en-US" sz="2400" u="sng" dirty="0"/>
              <a:t> </a:t>
            </a:r>
            <a:r>
              <a:rPr lang="en-US" sz="2400" dirty="0"/>
              <a:t>Measures the magnitude of prediction errors (penalizes larger errors heavily).</a:t>
            </a:r>
          </a:p>
          <a:p>
            <a:endParaRPr lang="en-US" sz="2400" dirty="0"/>
          </a:p>
          <a:p>
            <a:r>
              <a:rPr lang="en-US" sz="2400" b="1" u="sng" dirty="0"/>
              <a:t>Mean Absolute Error (MAE):</a:t>
            </a:r>
            <a:r>
              <a:rPr lang="en-US" sz="2400" u="sng" dirty="0"/>
              <a:t> </a:t>
            </a:r>
            <a:r>
              <a:rPr lang="en-US" sz="2400" dirty="0"/>
              <a:t>Measures the average absolute difference between predicted and actual values.</a:t>
            </a:r>
          </a:p>
          <a:p>
            <a:endParaRPr lang="en-US" sz="2400" dirty="0"/>
          </a:p>
          <a:p>
            <a:r>
              <a:rPr lang="en-US" sz="2400" b="1" u="sng" dirty="0"/>
              <a:t>Hit Ratio:</a:t>
            </a:r>
            <a:r>
              <a:rPr lang="en-US" sz="2400" u="sng" dirty="0"/>
              <a:t> </a:t>
            </a:r>
            <a:r>
              <a:rPr lang="en-US" sz="2400" dirty="0"/>
              <a:t>The percentage of time steps where the model correctly predicted the direction of traffic flow change i.e., whether flow increased or decreased.</a:t>
            </a:r>
          </a:p>
          <a:p>
            <a:endParaRPr lang="en-US" sz="2400" dirty="0"/>
          </a:p>
          <a:p>
            <a:r>
              <a:rPr lang="en-US" sz="2400" b="1" u="sng" dirty="0"/>
              <a:t>Computational Time:</a:t>
            </a:r>
            <a:r>
              <a:rPr lang="en-US" sz="2400" u="sng" dirty="0"/>
              <a:t> </a:t>
            </a:r>
            <a:r>
              <a:rPr lang="en-US" sz="2400" dirty="0"/>
              <a:t>Tracks the time taken for model training and inference.</a:t>
            </a:r>
          </a:p>
        </p:txBody>
      </p:sp>
      <p:graphicFrame>
        <p:nvGraphicFramePr>
          <p:cNvPr id="6" name="Table 5">
            <a:extLst>
              <a:ext uri="{FF2B5EF4-FFF2-40B4-BE49-F238E27FC236}">
                <a16:creationId xmlns:a16="http://schemas.microsoft.com/office/drawing/2014/main" id="{9460D78C-FB8F-04B7-307A-990DB1D8D419}"/>
              </a:ext>
            </a:extLst>
          </p:cNvPr>
          <p:cNvGraphicFramePr>
            <a:graphicFrameLocks noGrp="1"/>
          </p:cNvGraphicFramePr>
          <p:nvPr>
            <p:extLst>
              <p:ext uri="{D42A27DB-BD31-4B8C-83A1-F6EECF244321}">
                <p14:modId xmlns:p14="http://schemas.microsoft.com/office/powerpoint/2010/main" val="1395823758"/>
              </p:ext>
            </p:extLst>
          </p:nvPr>
        </p:nvGraphicFramePr>
        <p:xfrm>
          <a:off x="870349" y="22398851"/>
          <a:ext cx="10263978" cy="4450080"/>
        </p:xfrm>
        <a:graphic>
          <a:graphicData uri="http://schemas.openxmlformats.org/drawingml/2006/table">
            <a:tbl>
              <a:tblPr/>
              <a:tblGrid>
                <a:gridCol w="5131989">
                  <a:extLst>
                    <a:ext uri="{9D8B030D-6E8A-4147-A177-3AD203B41FA5}">
                      <a16:colId xmlns:a16="http://schemas.microsoft.com/office/drawing/2014/main" val="1107409551"/>
                    </a:ext>
                  </a:extLst>
                </a:gridCol>
                <a:gridCol w="5131989">
                  <a:extLst>
                    <a:ext uri="{9D8B030D-6E8A-4147-A177-3AD203B41FA5}">
                      <a16:colId xmlns:a16="http://schemas.microsoft.com/office/drawing/2014/main" val="1412121662"/>
                    </a:ext>
                  </a:extLst>
                </a:gridCol>
              </a:tblGrid>
              <a:tr h="596184">
                <a:tc>
                  <a:txBody>
                    <a:bodyPr/>
                    <a:lstStyle/>
                    <a:p>
                      <a:pPr rtl="0">
                        <a:buNone/>
                      </a:pPr>
                      <a:r>
                        <a:rPr lang="en-IN" sz="2800" b="1" dirty="0">
                          <a:solidFill>
                            <a:srgbClr val="1F1F1F"/>
                          </a:solidFill>
                          <a:effectLst/>
                          <a:latin typeface="Google Sans Text"/>
                        </a:rPr>
                        <a:t>Configuration Parameter</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800" b="1" dirty="0">
                          <a:solidFill>
                            <a:srgbClr val="1F1F1F"/>
                          </a:solidFill>
                          <a:effectLst/>
                          <a:latin typeface="Google Sans Text"/>
                        </a:rPr>
                        <a:t>Setting / Value</a:t>
                      </a:r>
                      <a:endParaRPr lang="en-IN" sz="2800" dirty="0">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51350429"/>
                  </a:ext>
                </a:extLst>
              </a:tr>
              <a:tr h="596184">
                <a:tc>
                  <a:txBody>
                    <a:bodyPr/>
                    <a:lstStyle/>
                    <a:p>
                      <a:pPr rtl="0">
                        <a:buNone/>
                      </a:pPr>
                      <a:r>
                        <a:rPr lang="en-IN" sz="2400" b="1" dirty="0">
                          <a:solidFill>
                            <a:srgbClr val="1F1F1F"/>
                          </a:solidFill>
                          <a:effectLst/>
                          <a:latin typeface="Google Sans Text"/>
                        </a:rPr>
                        <a:t>Temporal Sampling Interval</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dirty="0">
                          <a:solidFill>
                            <a:srgbClr val="1F1F1F"/>
                          </a:solidFill>
                          <a:effectLst/>
                          <a:latin typeface="Google Sans Text"/>
                        </a:rPr>
                        <a:t>150 Seconds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64537263"/>
                  </a:ext>
                </a:extLst>
              </a:tr>
              <a:tr h="846630">
                <a:tc>
                  <a:txBody>
                    <a:bodyPr/>
                    <a:lstStyle/>
                    <a:p>
                      <a:pPr rtl="0">
                        <a:buNone/>
                      </a:pPr>
                      <a:r>
                        <a:rPr lang="en-US" sz="2400" b="1" dirty="0">
                          <a:solidFill>
                            <a:srgbClr val="1F1F1F"/>
                          </a:solidFill>
                          <a:effectLst/>
                          <a:latin typeface="Google Sans Text"/>
                        </a:rPr>
                        <a:t>Historical Input Horizon (</a:t>
                      </a:r>
                      <a:r>
                        <a:rPr lang="en-US" sz="2400" b="1" dirty="0">
                          <a:solidFill>
                            <a:srgbClr val="444746"/>
                          </a:solidFill>
                          <a:effectLst/>
                          <a:latin typeface="Google Sans Text"/>
                        </a:rPr>
                        <a:t>SEEABLE_PAST</a:t>
                      </a:r>
                      <a:r>
                        <a:rPr lang="en-US" sz="2400" b="1" dirty="0">
                          <a:solidFill>
                            <a:srgbClr val="1F1F1F"/>
                          </a:solidFill>
                          <a:effectLst/>
                          <a:latin typeface="Google Sans Text"/>
                        </a:rPr>
                        <a:t>)</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dirty="0">
                          <a:solidFill>
                            <a:srgbClr val="1F1F1F"/>
                          </a:solidFill>
                          <a:effectLst/>
                          <a:latin typeface="Google Sans Text"/>
                        </a:rPr>
                        <a:t>60 Minutes (24 steps)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7958067"/>
                  </a:ext>
                </a:extLst>
              </a:tr>
              <a:tr h="846630">
                <a:tc>
                  <a:txBody>
                    <a:bodyPr/>
                    <a:lstStyle/>
                    <a:p>
                      <a:pPr rtl="0">
                        <a:buNone/>
                      </a:pPr>
                      <a:r>
                        <a:rPr lang="en-US" sz="2400" b="1" dirty="0">
                          <a:solidFill>
                            <a:srgbClr val="1F1F1F"/>
                          </a:solidFill>
                          <a:effectLst/>
                          <a:latin typeface="Google Sans Text"/>
                        </a:rPr>
                        <a:t>Forecast Target Delay (</a:t>
                      </a:r>
                      <a:r>
                        <a:rPr lang="en-US" sz="2400" b="1" dirty="0">
                          <a:solidFill>
                            <a:srgbClr val="444746"/>
                          </a:solidFill>
                          <a:effectLst/>
                          <a:latin typeface="Google Sans Text"/>
                        </a:rPr>
                        <a:t>PREDICT_IN_FUTURE</a:t>
                      </a:r>
                      <a:r>
                        <a:rPr lang="en-US" sz="2400" b="1" dirty="0">
                          <a:solidFill>
                            <a:srgbClr val="1F1F1F"/>
                          </a:solidFill>
                          <a:effectLst/>
                          <a:latin typeface="Google Sans Text"/>
                        </a:rPr>
                        <a:t>)</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15 Minutes (6 steps ahead)</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67525076"/>
                  </a:ext>
                </a:extLst>
              </a:tr>
              <a:tr h="596184">
                <a:tc>
                  <a:txBody>
                    <a:bodyPr/>
                    <a:lstStyle/>
                    <a:p>
                      <a:pPr rtl="0">
                        <a:buNone/>
                      </a:pPr>
                      <a:r>
                        <a:rPr lang="en-IN" sz="2400" b="1" dirty="0">
                          <a:solidFill>
                            <a:srgbClr val="1F1F1F"/>
                          </a:solidFill>
                          <a:effectLst/>
                          <a:latin typeface="Google Sans Text"/>
                        </a:rPr>
                        <a:t>Cross-Validation Scheme</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dirty="0">
                          <a:solidFill>
                            <a:srgbClr val="1F1F1F"/>
                          </a:solidFill>
                          <a:effectLst/>
                          <a:latin typeface="Google Sans Text"/>
                        </a:rPr>
                        <a:t>4-Fold Sequential Time-Series Split</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87158608"/>
                  </a:ext>
                </a:extLst>
              </a:tr>
              <a:tr h="596184">
                <a:tc>
                  <a:txBody>
                    <a:bodyPr/>
                    <a:lstStyle/>
                    <a:p>
                      <a:pPr rtl="0">
                        <a:buNone/>
                      </a:pPr>
                      <a:r>
                        <a:rPr lang="en-IN" sz="2400" b="1" dirty="0">
                          <a:solidFill>
                            <a:srgbClr val="1F1F1F"/>
                          </a:solidFill>
                          <a:effectLst/>
                          <a:latin typeface="Google Sans Text"/>
                        </a:rPr>
                        <a:t>Computational Core</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400" dirty="0" err="1">
                          <a:solidFill>
                            <a:srgbClr val="1F1F1F"/>
                          </a:solidFill>
                          <a:effectLst/>
                          <a:latin typeface="Google Sans Text"/>
                        </a:rPr>
                        <a:t>PyTorch</a:t>
                      </a:r>
                      <a:r>
                        <a:rPr lang="en-US" sz="2400" dirty="0">
                          <a:solidFill>
                            <a:srgbClr val="1F1F1F"/>
                          </a:solidFill>
                          <a:effectLst/>
                          <a:latin typeface="Google Sans Text"/>
                        </a:rPr>
                        <a:t> CUDA Execution Engine (</a:t>
                      </a:r>
                      <a:r>
                        <a:rPr lang="en-US" sz="2400" dirty="0" err="1">
                          <a:solidFill>
                            <a:srgbClr val="444746"/>
                          </a:solidFill>
                          <a:effectLst/>
                          <a:latin typeface="Google Sans Text"/>
                        </a:rPr>
                        <a:t>cuda</a:t>
                      </a:r>
                      <a:r>
                        <a:rPr lang="en-US" sz="2400" dirty="0">
                          <a:solidFill>
                            <a:srgbClr val="1F1F1F"/>
                          </a:solidFill>
                          <a:effectLst/>
                          <a:latin typeface="Google Sans Text"/>
                        </a:rPr>
                        <a:t>)</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48972339"/>
                  </a:ext>
                </a:extLst>
              </a:tr>
            </a:tbl>
          </a:graphicData>
        </a:graphic>
      </p:graphicFrame>
      <p:pic>
        <p:nvPicPr>
          <p:cNvPr id="11" name="Picture 10">
            <a:extLst>
              <a:ext uri="{FF2B5EF4-FFF2-40B4-BE49-F238E27FC236}">
                <a16:creationId xmlns:a16="http://schemas.microsoft.com/office/drawing/2014/main" id="{073ED4A2-BC0E-0B42-FDEC-1561A21D55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23192" y="6458627"/>
            <a:ext cx="6777065" cy="1157055"/>
          </a:xfrm>
          <a:prstGeom prst="rect">
            <a:avLst/>
          </a:prstGeom>
        </p:spPr>
      </p:pic>
      <p:pic>
        <p:nvPicPr>
          <p:cNvPr id="13" name="Picture 12">
            <a:extLst>
              <a:ext uri="{FF2B5EF4-FFF2-40B4-BE49-F238E27FC236}">
                <a16:creationId xmlns:a16="http://schemas.microsoft.com/office/drawing/2014/main" id="{F4F8A98D-024E-921E-0EF8-E3596198090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223192" y="8331641"/>
            <a:ext cx="6777065" cy="1157052"/>
          </a:xfrm>
          <a:prstGeom prst="rect">
            <a:avLst/>
          </a:prstGeom>
        </p:spPr>
      </p:pic>
      <p:pic>
        <p:nvPicPr>
          <p:cNvPr id="15" name="Picture 14">
            <a:extLst>
              <a:ext uri="{FF2B5EF4-FFF2-40B4-BE49-F238E27FC236}">
                <a16:creationId xmlns:a16="http://schemas.microsoft.com/office/drawing/2014/main" id="{335EF242-7529-B036-E55C-15EE911E1A1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223192" y="10305278"/>
            <a:ext cx="6772562" cy="2865315"/>
          </a:xfrm>
          <a:prstGeom prst="rect">
            <a:avLst/>
          </a:prstGeom>
        </p:spPr>
      </p:pic>
      <p:pic>
        <p:nvPicPr>
          <p:cNvPr id="17" name="Picture 16">
            <a:extLst>
              <a:ext uri="{FF2B5EF4-FFF2-40B4-BE49-F238E27FC236}">
                <a16:creationId xmlns:a16="http://schemas.microsoft.com/office/drawing/2014/main" id="{B4646A03-6F1E-9346-9B18-E0DBA2B1E3E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228142" y="13987178"/>
            <a:ext cx="6772562" cy="1320624"/>
          </a:xfrm>
          <a:prstGeom prst="rect">
            <a:avLst/>
          </a:prstGeom>
        </p:spPr>
      </p:pic>
      <p:pic>
        <p:nvPicPr>
          <p:cNvPr id="19" name="Picture 18">
            <a:extLst>
              <a:ext uri="{FF2B5EF4-FFF2-40B4-BE49-F238E27FC236}">
                <a16:creationId xmlns:a16="http://schemas.microsoft.com/office/drawing/2014/main" id="{0AB92E92-C33E-6342-A61A-6B2593E0BB4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223192" y="16140906"/>
            <a:ext cx="6772562" cy="3497088"/>
          </a:xfrm>
          <a:prstGeom prst="rect">
            <a:avLst/>
          </a:prstGeom>
        </p:spPr>
      </p:pic>
      <p:pic>
        <p:nvPicPr>
          <p:cNvPr id="21" name="Picture 20">
            <a:extLst>
              <a:ext uri="{FF2B5EF4-FFF2-40B4-BE49-F238E27FC236}">
                <a16:creationId xmlns:a16="http://schemas.microsoft.com/office/drawing/2014/main" id="{C4A2A8F6-5426-2D5B-0828-155DADFAA53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837108" y="5578435"/>
            <a:ext cx="7217037" cy="2813660"/>
          </a:xfrm>
          <a:prstGeom prst="rect">
            <a:avLst/>
          </a:prstGeom>
        </p:spPr>
      </p:pic>
      <p:pic>
        <p:nvPicPr>
          <p:cNvPr id="23" name="Picture 22">
            <a:extLst>
              <a:ext uri="{FF2B5EF4-FFF2-40B4-BE49-F238E27FC236}">
                <a16:creationId xmlns:a16="http://schemas.microsoft.com/office/drawing/2014/main" id="{7EED70E0-5389-CFCD-E234-AE469A4E2D0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3773910" y="9394560"/>
            <a:ext cx="6048280" cy="3056327"/>
          </a:xfrm>
          <a:prstGeom prst="rect">
            <a:avLst/>
          </a:prstGeom>
        </p:spPr>
      </p:pic>
      <p:pic>
        <p:nvPicPr>
          <p:cNvPr id="25" name="Picture 24">
            <a:extLst>
              <a:ext uri="{FF2B5EF4-FFF2-40B4-BE49-F238E27FC236}">
                <a16:creationId xmlns:a16="http://schemas.microsoft.com/office/drawing/2014/main" id="{F12F3B0F-AC7C-F718-0008-E2160B933AC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9811398" y="9671327"/>
            <a:ext cx="6149201" cy="3023514"/>
          </a:xfrm>
          <a:prstGeom prst="rect">
            <a:avLst/>
          </a:prstGeom>
        </p:spPr>
      </p:pic>
      <p:pic>
        <p:nvPicPr>
          <p:cNvPr id="27" name="Picture 26">
            <a:extLst>
              <a:ext uri="{FF2B5EF4-FFF2-40B4-BE49-F238E27FC236}">
                <a16:creationId xmlns:a16="http://schemas.microsoft.com/office/drawing/2014/main" id="{1744C67B-782C-2D0F-9F58-3F7C9C66182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3731107" y="15231926"/>
            <a:ext cx="6140510" cy="2742889"/>
          </a:xfrm>
          <a:prstGeom prst="rect">
            <a:avLst/>
          </a:prstGeom>
        </p:spPr>
      </p:pic>
      <p:pic>
        <p:nvPicPr>
          <p:cNvPr id="29" name="Picture 28">
            <a:extLst>
              <a:ext uri="{FF2B5EF4-FFF2-40B4-BE49-F238E27FC236}">
                <a16:creationId xmlns:a16="http://schemas.microsoft.com/office/drawing/2014/main" id="{2AAA929A-AC0A-BB5A-CB17-73CC2C46811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9774260" y="15154775"/>
            <a:ext cx="5992022" cy="2832476"/>
          </a:xfrm>
          <a:prstGeom prst="rect">
            <a:avLst/>
          </a:prstGeom>
        </p:spPr>
      </p:pic>
      <p:pic>
        <p:nvPicPr>
          <p:cNvPr id="31" name="Picture 30">
            <a:extLst>
              <a:ext uri="{FF2B5EF4-FFF2-40B4-BE49-F238E27FC236}">
                <a16:creationId xmlns:a16="http://schemas.microsoft.com/office/drawing/2014/main" id="{A2191AF8-824A-52C1-D675-710019C00B0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3850932" y="21777242"/>
            <a:ext cx="6140510" cy="3014287"/>
          </a:xfrm>
          <a:prstGeom prst="rect">
            <a:avLst/>
          </a:prstGeom>
        </p:spPr>
      </p:pic>
      <p:sp>
        <p:nvSpPr>
          <p:cNvPr id="33" name="TextBox 32">
            <a:extLst>
              <a:ext uri="{FF2B5EF4-FFF2-40B4-BE49-F238E27FC236}">
                <a16:creationId xmlns:a16="http://schemas.microsoft.com/office/drawing/2014/main" id="{0D8F7264-FF7B-A48C-A0B0-5364C1EB46CA}"/>
              </a:ext>
            </a:extLst>
          </p:cNvPr>
          <p:cNvSpPr txBox="1"/>
          <p:nvPr/>
        </p:nvSpPr>
        <p:spPr>
          <a:xfrm>
            <a:off x="31151280" y="5552801"/>
            <a:ext cx="4968907" cy="2862322"/>
          </a:xfrm>
          <a:prstGeom prst="rect">
            <a:avLst/>
          </a:prstGeom>
          <a:noFill/>
        </p:spPr>
        <p:txBody>
          <a:bodyPr wrap="square" rtlCol="0">
            <a:spAutoFit/>
          </a:bodyPr>
          <a:lstStyle/>
          <a:p>
            <a:r>
              <a:rPr lang="en-US" sz="2000" b="1" u="sng" dirty="0"/>
              <a:t>SVM is the best overall: </a:t>
            </a:r>
            <a:r>
              <a:rPr lang="en-US" sz="2000" dirty="0"/>
              <a:t>lowest RMSE (4.607) and MAE (3.3294), highest Hit Ratio (71.11%).</a:t>
            </a:r>
          </a:p>
          <a:p>
            <a:endParaRPr lang="en-US" sz="2000" dirty="0"/>
          </a:p>
          <a:p>
            <a:r>
              <a:rPr lang="en-US" sz="2000" b="1" u="sng" dirty="0"/>
              <a:t>LSTM underperforms:</a:t>
            </a:r>
            <a:r>
              <a:rPr lang="en-US" sz="2000" dirty="0"/>
              <a:t> despite being the most complex model, sits closer to Moving Average, which is a traditional baseline. Classic case of deep learning needing more data and training to justify its complexity.</a:t>
            </a:r>
          </a:p>
        </p:txBody>
      </p:sp>
      <p:sp>
        <p:nvSpPr>
          <p:cNvPr id="34" name="TextBox 33">
            <a:extLst>
              <a:ext uri="{FF2B5EF4-FFF2-40B4-BE49-F238E27FC236}">
                <a16:creationId xmlns:a16="http://schemas.microsoft.com/office/drawing/2014/main" id="{C4AD8798-31D2-6AE3-970F-406959595DEB}"/>
              </a:ext>
            </a:extLst>
          </p:cNvPr>
          <p:cNvSpPr txBox="1"/>
          <p:nvPr/>
        </p:nvSpPr>
        <p:spPr>
          <a:xfrm>
            <a:off x="23897047" y="12540920"/>
            <a:ext cx="6048280" cy="1631216"/>
          </a:xfrm>
          <a:prstGeom prst="rect">
            <a:avLst/>
          </a:prstGeom>
          <a:noFill/>
        </p:spPr>
        <p:txBody>
          <a:bodyPr wrap="square" rtlCol="0">
            <a:spAutoFit/>
          </a:bodyPr>
          <a:lstStyle/>
          <a:p>
            <a:r>
              <a:rPr lang="en-US" sz="2000" dirty="0"/>
              <a:t>More past data ≠ better. There's a sweet spot around </a:t>
            </a:r>
            <a:r>
              <a:rPr lang="en-US" sz="2000" b="1" dirty="0"/>
              <a:t>60 minutes</a:t>
            </a:r>
            <a:r>
              <a:rPr lang="en-US" sz="2000" dirty="0"/>
              <a:t> of past data for a 15-minute prediction horizon. Beyond that, older data adds noise. Moving Average suffers most from too much history; LSTM benefits slightly but not significantly.</a:t>
            </a:r>
            <a:endParaRPr lang="en-US" sz="2000" dirty="0">
              <a:effectLst/>
            </a:endParaRPr>
          </a:p>
        </p:txBody>
      </p:sp>
      <p:sp>
        <p:nvSpPr>
          <p:cNvPr id="35" name="TextBox 34">
            <a:extLst>
              <a:ext uri="{FF2B5EF4-FFF2-40B4-BE49-F238E27FC236}">
                <a16:creationId xmlns:a16="http://schemas.microsoft.com/office/drawing/2014/main" id="{1E8400CD-16D7-1F36-BCF0-5681B8EA15D0}"/>
              </a:ext>
            </a:extLst>
          </p:cNvPr>
          <p:cNvSpPr txBox="1"/>
          <p:nvPr/>
        </p:nvSpPr>
        <p:spPr>
          <a:xfrm>
            <a:off x="30132867" y="12540920"/>
            <a:ext cx="5972439" cy="1631216"/>
          </a:xfrm>
          <a:prstGeom prst="rect">
            <a:avLst/>
          </a:prstGeom>
          <a:noFill/>
        </p:spPr>
        <p:txBody>
          <a:bodyPr wrap="square" rtlCol="0">
            <a:spAutoFit/>
          </a:bodyPr>
          <a:lstStyle/>
          <a:p>
            <a:r>
              <a:rPr lang="en-US" sz="2000" dirty="0"/>
              <a:t>Predicting further into the future = worse performance. RMSE and MAE rise steadily as horizon increases from 15 to 60 minutes. Hit Ratio peaks around 45 minutes then drops. models handle short-to-medium term direction well but lose accuracy beyond that.</a:t>
            </a:r>
            <a:endParaRPr lang="en-US" sz="2000" dirty="0">
              <a:effectLst/>
            </a:endParaRPr>
          </a:p>
        </p:txBody>
      </p:sp>
      <p:sp>
        <p:nvSpPr>
          <p:cNvPr id="36" name="TextBox 35">
            <a:extLst>
              <a:ext uri="{FF2B5EF4-FFF2-40B4-BE49-F238E27FC236}">
                <a16:creationId xmlns:a16="http://schemas.microsoft.com/office/drawing/2014/main" id="{C9482AE0-5776-F47A-E1B5-DC73D2CF0280}"/>
              </a:ext>
            </a:extLst>
          </p:cNvPr>
          <p:cNvSpPr txBox="1"/>
          <p:nvPr/>
        </p:nvSpPr>
        <p:spPr>
          <a:xfrm>
            <a:off x="23918389" y="17910099"/>
            <a:ext cx="6234507" cy="2862322"/>
          </a:xfrm>
          <a:prstGeom prst="rect">
            <a:avLst/>
          </a:prstGeom>
          <a:noFill/>
        </p:spPr>
        <p:txBody>
          <a:bodyPr wrap="square" rtlCol="0">
            <a:spAutoFit/>
          </a:bodyPr>
          <a:lstStyle/>
          <a:p>
            <a:r>
              <a:rPr lang="en-US" sz="2000" dirty="0"/>
              <a:t>Smaller intervals (150s) outperform larger ones (300s) RMSE/MAE drop by ~2 units. Hit Ratio stays nearly the same since the overall traffic direction doesn't change, just the precision.</a:t>
            </a:r>
          </a:p>
          <a:p>
            <a:endParaRPr lang="en-US" sz="2000" dirty="0"/>
          </a:p>
          <a:p>
            <a:r>
              <a:rPr lang="en-US" sz="2000" dirty="0"/>
              <a:t>300s smooths too aggressively, losing short-term traffic variations the models rely on. 150s hits the sweet spot granular enough to capture meaningful patterns, but not so fine that noise dominates.</a:t>
            </a:r>
          </a:p>
        </p:txBody>
      </p:sp>
      <p:sp>
        <p:nvSpPr>
          <p:cNvPr id="37" name="TextBox 36">
            <a:extLst>
              <a:ext uri="{FF2B5EF4-FFF2-40B4-BE49-F238E27FC236}">
                <a16:creationId xmlns:a16="http://schemas.microsoft.com/office/drawing/2014/main" id="{2AFD82BE-BBCC-06EE-BF76-3489E5FB31DD}"/>
              </a:ext>
            </a:extLst>
          </p:cNvPr>
          <p:cNvSpPr txBox="1"/>
          <p:nvPr/>
        </p:nvSpPr>
        <p:spPr>
          <a:xfrm>
            <a:off x="30058899" y="17921374"/>
            <a:ext cx="5898056" cy="2862322"/>
          </a:xfrm>
          <a:prstGeom prst="rect">
            <a:avLst/>
          </a:prstGeom>
          <a:noFill/>
        </p:spPr>
        <p:txBody>
          <a:bodyPr wrap="square" rtlCol="0">
            <a:spAutoFit/>
          </a:bodyPr>
          <a:lstStyle/>
          <a:p>
            <a:r>
              <a:rPr lang="en-US" sz="2000" dirty="0"/>
              <a:t>More trees = better accuracy, but with </a:t>
            </a:r>
            <a:r>
              <a:rPr lang="en-US" sz="2000" b="1" dirty="0"/>
              <a:t>diminishing returns</a:t>
            </a:r>
            <a:r>
              <a:rPr lang="en-US" sz="2000" dirty="0"/>
              <a:t>. 50 to 200 trees gives meaningful gains; 200 to 500 barely moves RMSE/MAE (~0.01 difference) while training time more than doubles (10 to 28 sec).</a:t>
            </a:r>
          </a:p>
          <a:p>
            <a:endParaRPr lang="en-US" sz="2000" dirty="0"/>
          </a:p>
          <a:p>
            <a:r>
              <a:rPr lang="en-US" sz="2000" dirty="0"/>
              <a:t>Random Forests typically saturate around 100 to 300 trees depending on dataset size. Beyond that we are paying compute cost for near-zero gain. </a:t>
            </a:r>
            <a:r>
              <a:rPr lang="en-US" sz="2000" b="1" dirty="0"/>
              <a:t>200 trees is the optimal sweet spot</a:t>
            </a:r>
            <a:r>
              <a:rPr lang="en-US" sz="2000" dirty="0"/>
              <a:t> here.</a:t>
            </a:r>
          </a:p>
        </p:txBody>
      </p:sp>
      <p:sp>
        <p:nvSpPr>
          <p:cNvPr id="38" name="TextBox 37">
            <a:extLst>
              <a:ext uri="{FF2B5EF4-FFF2-40B4-BE49-F238E27FC236}">
                <a16:creationId xmlns:a16="http://schemas.microsoft.com/office/drawing/2014/main" id="{E3A6B2D0-9111-A031-F1EF-C0190AC76D49}"/>
              </a:ext>
            </a:extLst>
          </p:cNvPr>
          <p:cNvSpPr txBox="1"/>
          <p:nvPr/>
        </p:nvSpPr>
        <p:spPr>
          <a:xfrm>
            <a:off x="30276754" y="21880474"/>
            <a:ext cx="5421948" cy="3170099"/>
          </a:xfrm>
          <a:prstGeom prst="rect">
            <a:avLst/>
          </a:prstGeom>
          <a:noFill/>
        </p:spPr>
        <p:txBody>
          <a:bodyPr wrap="square" rtlCol="0">
            <a:spAutoFit/>
          </a:bodyPr>
          <a:lstStyle/>
          <a:p>
            <a:r>
              <a:rPr lang="en-US" sz="2000" dirty="0"/>
              <a:t>Unlike Random Forest, LSTM hasn't plateaued at 200 units, RMSE/MAE are still dropping meaningfully, expanding the project with a larger dataset, more training epochs, an increased hidden layer size, a finely tuned learning rate, and smaller batch sizes is highly likely to yield even better accuracy.</a:t>
            </a:r>
          </a:p>
          <a:p>
            <a:endParaRPr lang="en-US" sz="2000" dirty="0"/>
          </a:p>
          <a:p>
            <a:r>
              <a:rPr lang="en-US" sz="2000" dirty="0"/>
              <a:t>Training time doubles each step though, so it's a harder tradeoff than Random Forest.</a:t>
            </a:r>
          </a:p>
        </p:txBody>
      </p:sp>
      <p:sp>
        <p:nvSpPr>
          <p:cNvPr id="4" name="TextBox 3">
            <a:extLst>
              <a:ext uri="{FF2B5EF4-FFF2-40B4-BE49-F238E27FC236}">
                <a16:creationId xmlns:a16="http://schemas.microsoft.com/office/drawing/2014/main" id="{7A3CDDD3-8843-D870-777D-D931642B5184}"/>
              </a:ext>
            </a:extLst>
          </p:cNvPr>
          <p:cNvSpPr txBox="1"/>
          <p:nvPr/>
        </p:nvSpPr>
        <p:spPr>
          <a:xfrm>
            <a:off x="23867541" y="8996131"/>
            <a:ext cx="5927848" cy="461665"/>
          </a:xfrm>
          <a:prstGeom prst="rect">
            <a:avLst/>
          </a:prstGeom>
          <a:noFill/>
        </p:spPr>
        <p:txBody>
          <a:bodyPr wrap="square" rtlCol="0">
            <a:spAutoFit/>
          </a:bodyPr>
          <a:lstStyle/>
          <a:p>
            <a:pPr algn="ctr"/>
            <a:r>
              <a:rPr lang="en-IN" sz="2400" b="1" u="sng" dirty="0"/>
              <a:t>1. Varying seeable past parameter</a:t>
            </a:r>
          </a:p>
        </p:txBody>
      </p:sp>
      <p:sp>
        <p:nvSpPr>
          <p:cNvPr id="5" name="TextBox 4">
            <a:extLst>
              <a:ext uri="{FF2B5EF4-FFF2-40B4-BE49-F238E27FC236}">
                <a16:creationId xmlns:a16="http://schemas.microsoft.com/office/drawing/2014/main" id="{8D83C7E7-CA52-A9BA-7B39-E9DDECAC488E}"/>
              </a:ext>
            </a:extLst>
          </p:cNvPr>
          <p:cNvSpPr txBox="1"/>
          <p:nvPr/>
        </p:nvSpPr>
        <p:spPr>
          <a:xfrm>
            <a:off x="23837118" y="5110780"/>
            <a:ext cx="7217027" cy="461665"/>
          </a:xfrm>
          <a:prstGeom prst="rect">
            <a:avLst/>
          </a:prstGeom>
          <a:noFill/>
        </p:spPr>
        <p:txBody>
          <a:bodyPr wrap="square" rtlCol="0">
            <a:spAutoFit/>
          </a:bodyPr>
          <a:lstStyle/>
          <a:p>
            <a:pPr algn="ctr"/>
            <a:r>
              <a:rPr lang="en-IN" sz="2400" b="1" u="sng" dirty="0"/>
              <a:t>MODEL COMPARISION</a:t>
            </a:r>
          </a:p>
        </p:txBody>
      </p:sp>
      <p:sp>
        <p:nvSpPr>
          <p:cNvPr id="7" name="TextBox 6">
            <a:extLst>
              <a:ext uri="{FF2B5EF4-FFF2-40B4-BE49-F238E27FC236}">
                <a16:creationId xmlns:a16="http://schemas.microsoft.com/office/drawing/2014/main" id="{D7646523-0CB7-7E49-D8B1-AA702825BE6E}"/>
              </a:ext>
            </a:extLst>
          </p:cNvPr>
          <p:cNvSpPr txBox="1"/>
          <p:nvPr/>
        </p:nvSpPr>
        <p:spPr>
          <a:xfrm>
            <a:off x="30152896" y="8994285"/>
            <a:ext cx="5534417" cy="461665"/>
          </a:xfrm>
          <a:prstGeom prst="rect">
            <a:avLst/>
          </a:prstGeom>
          <a:noFill/>
        </p:spPr>
        <p:txBody>
          <a:bodyPr wrap="square" rtlCol="0">
            <a:spAutoFit/>
          </a:bodyPr>
          <a:lstStyle/>
          <a:p>
            <a:r>
              <a:rPr lang="en-IN" sz="2400" b="1" u="sng" dirty="0"/>
              <a:t>2. Varying predicting future parameter</a:t>
            </a:r>
          </a:p>
        </p:txBody>
      </p:sp>
      <p:sp>
        <p:nvSpPr>
          <p:cNvPr id="8" name="TextBox 7">
            <a:extLst>
              <a:ext uri="{FF2B5EF4-FFF2-40B4-BE49-F238E27FC236}">
                <a16:creationId xmlns:a16="http://schemas.microsoft.com/office/drawing/2014/main" id="{F86CB3FC-A08A-7626-38E2-5C497813F5C5}"/>
              </a:ext>
            </a:extLst>
          </p:cNvPr>
          <p:cNvSpPr txBox="1"/>
          <p:nvPr/>
        </p:nvSpPr>
        <p:spPr>
          <a:xfrm>
            <a:off x="23936719" y="14610453"/>
            <a:ext cx="5789492" cy="461665"/>
          </a:xfrm>
          <a:prstGeom prst="rect">
            <a:avLst/>
          </a:prstGeom>
          <a:noFill/>
        </p:spPr>
        <p:txBody>
          <a:bodyPr wrap="square" rtlCol="0">
            <a:spAutoFit/>
          </a:bodyPr>
          <a:lstStyle/>
          <a:p>
            <a:pPr algn="ctr"/>
            <a:r>
              <a:rPr lang="en-IN" sz="2400" b="1" u="sng" dirty="0"/>
              <a:t>3. Comparing different bin intervals</a:t>
            </a:r>
          </a:p>
        </p:txBody>
      </p:sp>
      <p:sp>
        <p:nvSpPr>
          <p:cNvPr id="9" name="TextBox 8">
            <a:extLst>
              <a:ext uri="{FF2B5EF4-FFF2-40B4-BE49-F238E27FC236}">
                <a16:creationId xmlns:a16="http://schemas.microsoft.com/office/drawing/2014/main" id="{3F599F19-89C8-91F7-CF9E-AFA10FCA9235}"/>
              </a:ext>
            </a:extLst>
          </p:cNvPr>
          <p:cNvSpPr txBox="1"/>
          <p:nvPr/>
        </p:nvSpPr>
        <p:spPr>
          <a:xfrm>
            <a:off x="29945327" y="14612734"/>
            <a:ext cx="5815696" cy="461665"/>
          </a:xfrm>
          <a:prstGeom prst="rect">
            <a:avLst/>
          </a:prstGeom>
          <a:noFill/>
        </p:spPr>
        <p:txBody>
          <a:bodyPr wrap="square" rtlCol="0">
            <a:spAutoFit/>
          </a:bodyPr>
          <a:lstStyle/>
          <a:p>
            <a:pPr algn="ctr"/>
            <a:r>
              <a:rPr lang="en-IN" sz="2400" b="1" u="sng" dirty="0"/>
              <a:t>4. Increasing no. of trees in RF</a:t>
            </a:r>
          </a:p>
        </p:txBody>
      </p:sp>
      <p:sp>
        <p:nvSpPr>
          <p:cNvPr id="10" name="TextBox 9">
            <a:extLst>
              <a:ext uri="{FF2B5EF4-FFF2-40B4-BE49-F238E27FC236}">
                <a16:creationId xmlns:a16="http://schemas.microsoft.com/office/drawing/2014/main" id="{2565225F-B550-E949-068A-CAF1F6E66389}"/>
              </a:ext>
            </a:extLst>
          </p:cNvPr>
          <p:cNvSpPr txBox="1"/>
          <p:nvPr/>
        </p:nvSpPr>
        <p:spPr>
          <a:xfrm>
            <a:off x="24157365" y="21297257"/>
            <a:ext cx="5914105" cy="461665"/>
          </a:xfrm>
          <a:prstGeom prst="rect">
            <a:avLst/>
          </a:prstGeom>
          <a:noFill/>
        </p:spPr>
        <p:txBody>
          <a:bodyPr wrap="square" rtlCol="0">
            <a:spAutoFit/>
          </a:bodyPr>
          <a:lstStyle/>
          <a:p>
            <a:pPr algn="ctr"/>
            <a:r>
              <a:rPr lang="en-IN" sz="2400" b="1" u="sng" dirty="0"/>
              <a:t>5. </a:t>
            </a:r>
            <a:r>
              <a:rPr lang="en-IN" sz="2400" b="1" u="sng"/>
              <a:t>Fine tuning </a:t>
            </a:r>
            <a:r>
              <a:rPr lang="en-IN" sz="2400" b="1" u="sng" dirty="0"/>
              <a:t>hyperparameter of LSTM</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3762375" rtl="0" eaLnBrk="0" fontAlgn="base" latinLnBrk="0" hangingPunct="0">
          <a:lnSpc>
            <a:spcPct val="100000"/>
          </a:lnSpc>
          <a:spcBef>
            <a:spcPct val="0"/>
          </a:spcBef>
          <a:spcAft>
            <a:spcPct val="0"/>
          </a:spcAft>
          <a:buClrTx/>
          <a:buSzTx/>
          <a:buFontTx/>
          <a:buNone/>
          <a:tabLst/>
          <a:defRPr kumimoji="0" lang="en-US" altLang="en-US" sz="99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3762375" rtl="0" eaLnBrk="0" fontAlgn="base" latinLnBrk="0" hangingPunct="0">
          <a:lnSpc>
            <a:spcPct val="100000"/>
          </a:lnSpc>
          <a:spcBef>
            <a:spcPct val="0"/>
          </a:spcBef>
          <a:spcAft>
            <a:spcPct val="0"/>
          </a:spcAft>
          <a:buClrTx/>
          <a:buSzTx/>
          <a:buFontTx/>
          <a:buNone/>
          <a:tabLst/>
          <a:defRPr kumimoji="0" lang="en-US" altLang="en-US" sz="99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7270</TotalTime>
  <Words>1177</Words>
  <Application>Microsoft Office PowerPoint</Application>
  <PresentationFormat>Custom</PresentationFormat>
  <Paragraphs>113</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宋体</vt:lpstr>
      <vt:lpstr>Arial</vt:lpstr>
      <vt:lpstr>Google Sans Text</vt:lpstr>
      <vt:lpstr>Times New Roman</vt:lpstr>
      <vt:lpstr>Default Design</vt:lpstr>
      <vt:lpstr>Equation</vt:lpstr>
      <vt:lpstr>PowerPoint Presentation</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Computing Center</dc:creator>
  <cp:lastModifiedBy>Abraham dupak</cp:lastModifiedBy>
  <cp:revision>317</cp:revision>
  <cp:lastPrinted>2000-07-12T04:33:52Z</cp:lastPrinted>
  <dcterms:created xsi:type="dcterms:W3CDTF">2000-02-06T19:06:36Z</dcterms:created>
  <dcterms:modified xsi:type="dcterms:W3CDTF">2026-05-16T10:23:35Z</dcterms:modified>
</cp:coreProperties>
</file>